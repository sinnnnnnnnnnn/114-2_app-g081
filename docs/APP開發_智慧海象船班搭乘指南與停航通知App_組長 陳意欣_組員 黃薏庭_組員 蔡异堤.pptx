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23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41" d="100"/>
          <a:sy n="41" d="100"/>
        </p:scale>
        <p:origin x="66" y="7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954BF25-678A-4129-B480-1C724B0DF8FB}"/>
              </a:ext>
            </a:extLst>
          </p:cNvPr>
          <p:cNvSpPr>
            <a:spLocks noGrp="1"/>
          </p:cNvSpPr>
          <p:nvPr/>
        </p:nvSpPr>
        <p:spPr>
          <a:xfrm>
            <a:off x="-269966" y="-108755"/>
            <a:ext cx="12731931" cy="3892731"/>
          </a:xfrm>
          <a:prstGeom prst="rect">
            <a:avLst/>
          </a:prstGeom>
          <a:solidFill>
            <a:srgbClr val="0B2340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378221-20EB-4630-9EBC-EEA02E8B2BAA}"/>
              </a:ext>
            </a:extLst>
          </p:cNvPr>
          <p:cNvSpPr>
            <a:spLocks noGrp="1"/>
          </p:cNvSpPr>
          <p:nvPr/>
        </p:nvSpPr>
        <p:spPr>
          <a:xfrm>
            <a:off x="666750" y="6667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BFE7F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FE7F3"/>
                </a:solidFill>
                <a:latin typeface="Aptos"/>
                <a:ea typeface="Aptos"/>
                <a:cs typeface="Aptos"/>
              </a:rPr>
              <a:t>APP 開發期末專題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460C01-6D19-4B39-BAE8-D8E9798AA5A4}"/>
              </a:ext>
            </a:extLst>
          </p:cNvPr>
          <p:cNvSpPr>
            <a:spLocks noGrp="1"/>
          </p:cNvSpPr>
          <p:nvPr/>
        </p:nvSpPr>
        <p:spPr>
          <a:xfrm>
            <a:off x="575310" y="1889079"/>
            <a:ext cx="7562850" cy="7475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Aptos Display"/>
              </a:rPr>
              <a:t>智慧海象船班決策與停航通報</a:t>
            </a:r>
            <a:r>
              <a:rPr sz="375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ptos Display"/>
              </a:rPr>
              <a:t> A</a:t>
            </a:r>
            <a:r>
              <a:rPr lang="en-US" sz="375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ptos Display"/>
              </a:rPr>
              <a:t>PP</a:t>
            </a:r>
            <a:endParaRPr sz="3750" b="1" dirty="0">
              <a:latin typeface="微軟正黑體" panose="020B0604030504040204" pitchFamily="34" charset="-120"/>
              <a:ea typeface="微軟正黑體" panose="020B0604030504040204" pitchFamily="34" charset="-120"/>
              <a:cs typeface="Aptos Display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2F3936C-0D3F-4414-853A-24AEC72035D6}"/>
              </a:ext>
            </a:extLst>
          </p:cNvPr>
          <p:cNvSpPr txBox="1"/>
          <p:nvPr/>
        </p:nvSpPr>
        <p:spPr>
          <a:xfrm>
            <a:off x="575310" y="4009310"/>
            <a:ext cx="8007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800" b="1" dirty="0">
                <a:solidFill>
                  <a:srgbClr val="0B23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整合海況觀測、船班資訊與停航風險判斷，協助旅客做出更安心的搭船決策。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6122EE8-D6BE-4815-A34C-040FC280EDAB}"/>
              </a:ext>
            </a:extLst>
          </p:cNvPr>
          <p:cNvSpPr txBox="1"/>
          <p:nvPr/>
        </p:nvSpPr>
        <p:spPr>
          <a:xfrm>
            <a:off x="666750" y="4829310"/>
            <a:ext cx="54292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rgbClr val="0B2340"/>
                </a:solidFill>
              </a:rPr>
              <a:t>組長：陳意欣 </a:t>
            </a:r>
            <a:r>
              <a:rPr lang="en-US" altLang="zh-TW" b="1" dirty="0">
                <a:solidFill>
                  <a:srgbClr val="0B2340"/>
                </a:solidFill>
              </a:rPr>
              <a:t>C112181102</a:t>
            </a:r>
          </a:p>
          <a:p>
            <a:endParaRPr lang="en-US" altLang="zh-TW" b="1" dirty="0">
              <a:solidFill>
                <a:srgbClr val="0B2340"/>
              </a:solidFill>
            </a:endParaRPr>
          </a:p>
          <a:p>
            <a:r>
              <a:rPr lang="zh-TW" altLang="en-US" b="1" dirty="0">
                <a:solidFill>
                  <a:srgbClr val="0B2340"/>
                </a:solidFill>
              </a:rPr>
              <a:t>組員：黃薏庭 </a:t>
            </a:r>
            <a:r>
              <a:rPr lang="en-US" altLang="zh-TW" b="1" dirty="0">
                <a:solidFill>
                  <a:srgbClr val="0B2340"/>
                </a:solidFill>
              </a:rPr>
              <a:t>C112181103</a:t>
            </a:r>
            <a:r>
              <a:rPr lang="zh-TW" altLang="en-US" b="1" dirty="0">
                <a:solidFill>
                  <a:srgbClr val="0B2340"/>
                </a:solidFill>
              </a:rPr>
              <a:t>、蔡异堤 </a:t>
            </a:r>
            <a:r>
              <a:rPr lang="en-US" altLang="zh-TW" b="1" dirty="0">
                <a:solidFill>
                  <a:srgbClr val="0B2340"/>
                </a:solidFill>
              </a:rPr>
              <a:t>C112181144</a:t>
            </a:r>
          </a:p>
          <a:p>
            <a:endParaRPr lang="en-US" altLang="zh-TW" b="1" dirty="0">
              <a:solidFill>
                <a:srgbClr val="0B2340"/>
              </a:solidFill>
            </a:endParaRPr>
          </a:p>
          <a:p>
            <a:r>
              <a:rPr lang="zh-TW" altLang="en-US" b="1" dirty="0">
                <a:solidFill>
                  <a:srgbClr val="0B2340"/>
                </a:solidFill>
              </a:rPr>
              <a:t>指導老師：張珀銀 老師</a:t>
            </a:r>
          </a:p>
        </p:txBody>
      </p:sp>
    </p:spTree>
    <p:extLst>
      <p:ext uri="{BB962C8B-B14F-4D97-AF65-F5344CB8AC3E}">
        <p14:creationId xmlns:p14="http://schemas.microsoft.com/office/powerpoint/2010/main" val="1933076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4DEFEC95-DC11-4C5F-82BB-59E0032F85D7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B2340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B2340"/>
                </a:solidFill>
                <a:latin typeface="Aptos Display"/>
                <a:ea typeface="Aptos Display"/>
                <a:cs typeface="Aptos Display"/>
              </a:rPr>
              <a:t>研究動機：資訊分散，決策成本高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4FDE975-B4BD-47DC-AB5E-B6DA0CF47C42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00100" cy="47625"/>
          </a:xfrm>
          <a:prstGeom prst="rect">
            <a:avLst/>
          </a:prstGeom>
          <a:solidFill>
            <a:srgbClr val="0E7490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07424B-6E22-457F-8DB2-79450340B210}"/>
              </a:ext>
            </a:extLst>
          </p:cNvPr>
          <p:cNvSpPr>
            <a:spLocks noGrp="1"/>
          </p:cNvSpPr>
          <p:nvPr/>
        </p:nvSpPr>
        <p:spPr>
          <a:xfrm>
            <a:off x="1619250" y="866775"/>
            <a:ext cx="847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16174"/>
                </a:solidFill>
                <a:latin typeface="Aptos"/>
                <a:ea typeface="Aptos"/>
                <a:cs typeface="Aptos"/>
              </a:rPr>
              <a:t>海況與船班資訊分屬不同平台，旅客難以快速判斷是否適合出發。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24A91B8A-B4CB-4448-AD17-1BF34667F3B3}"/>
              </a:ext>
            </a:extLst>
          </p:cNvPr>
          <p:cNvSpPr>
            <a:spLocks noGrp="1"/>
          </p:cNvSpPr>
          <p:nvPr/>
        </p:nvSpPr>
        <p:spPr>
          <a:xfrm>
            <a:off x="714375" y="1524000"/>
            <a:ext cx="31432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9D9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9141887-0F56-4019-A1F2-1D446C52E358}"/>
              </a:ext>
            </a:extLst>
          </p:cNvPr>
          <p:cNvSpPr>
            <a:spLocks noGrp="1"/>
          </p:cNvSpPr>
          <p:nvPr/>
        </p:nvSpPr>
        <p:spPr>
          <a:xfrm>
            <a:off x="714375" y="1524000"/>
            <a:ext cx="66675" cy="3143250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AE66440-6688-4313-9C1D-853670F90544}"/>
              </a:ext>
            </a:extLst>
          </p:cNvPr>
          <p:cNvSpPr>
            <a:spLocks noGrp="1"/>
          </p:cNvSpPr>
          <p:nvPr/>
        </p:nvSpPr>
        <p:spPr>
          <a:xfrm>
            <a:off x="923925" y="1695450"/>
            <a:ext cx="2743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B2340"/>
                </a:solidFill>
                <a:latin typeface="Aptos"/>
                <a:ea typeface="Aptos"/>
                <a:cs typeface="Aptos"/>
              </a:defRPr>
            </a:pPr>
            <a:r>
              <a:rPr sz="2400" dirty="0" err="1">
                <a:solidFill>
                  <a:srgbClr val="0B2340"/>
                </a:solidFill>
                <a:latin typeface="Aptos"/>
                <a:ea typeface="Aptos"/>
                <a:cs typeface="Aptos"/>
              </a:rPr>
              <a:t>現況問題</a:t>
            </a:r>
            <a:endParaRPr sz="2400" dirty="0">
              <a:solidFill>
                <a:srgbClr val="0B234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02F961-07CF-494D-AA69-D93741AC893E}"/>
              </a:ext>
            </a:extLst>
          </p:cNvPr>
          <p:cNvSpPr>
            <a:spLocks noGrp="1"/>
          </p:cNvSpPr>
          <p:nvPr/>
        </p:nvSpPr>
        <p:spPr>
          <a:xfrm>
            <a:off x="923925" y="2228850"/>
            <a:ext cx="2743200" cy="2457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2000" b="1" dirty="0" err="1">
                <a:solidFill>
                  <a:srgbClr val="516174"/>
                </a:solidFill>
                <a:latin typeface="Aptos"/>
                <a:ea typeface="Aptos"/>
                <a:cs typeface="Aptos"/>
              </a:rPr>
              <a:t>海況觀測資料與船班資訊分散於中央氣象署、航港局與</a:t>
            </a:r>
            <a:r>
              <a:rPr sz="2000" b="1" dirty="0">
                <a:solidFill>
                  <a:srgbClr val="516174"/>
                </a:solidFill>
                <a:latin typeface="Aptos"/>
                <a:ea typeface="Aptos"/>
                <a:cs typeface="Aptos"/>
              </a:rPr>
              <a:t> TDX </a:t>
            </a:r>
            <a:r>
              <a:rPr sz="2000" b="1" dirty="0" err="1">
                <a:solidFill>
                  <a:srgbClr val="516174"/>
                </a:solidFill>
                <a:latin typeface="Aptos"/>
                <a:ea typeface="Aptos"/>
                <a:cs typeface="Aptos"/>
              </a:rPr>
              <a:t>等平台，使用者需重複查詢</a:t>
            </a:r>
            <a:r>
              <a:rPr sz="2000" b="1" dirty="0">
                <a:solidFill>
                  <a:srgbClr val="516174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5D25BDB0-899C-4190-8609-B286BCD02B27}"/>
              </a:ext>
            </a:extLst>
          </p:cNvPr>
          <p:cNvSpPr>
            <a:spLocks noGrp="1"/>
          </p:cNvSpPr>
          <p:nvPr/>
        </p:nvSpPr>
        <p:spPr>
          <a:xfrm>
            <a:off x="4524375" y="1524000"/>
            <a:ext cx="31432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9D9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6CDE01-25E9-4BA6-B420-7C4E6CD58675}"/>
              </a:ext>
            </a:extLst>
          </p:cNvPr>
          <p:cNvSpPr>
            <a:spLocks noGrp="1"/>
          </p:cNvSpPr>
          <p:nvPr/>
        </p:nvSpPr>
        <p:spPr>
          <a:xfrm>
            <a:off x="4524375" y="1524000"/>
            <a:ext cx="66675" cy="31432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197C98-EF06-448A-AB84-781BE3741A36}"/>
              </a:ext>
            </a:extLst>
          </p:cNvPr>
          <p:cNvSpPr>
            <a:spLocks noGrp="1"/>
          </p:cNvSpPr>
          <p:nvPr/>
        </p:nvSpPr>
        <p:spPr>
          <a:xfrm>
            <a:off x="4733925" y="1695450"/>
            <a:ext cx="2743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B2340"/>
                </a:solidFill>
                <a:latin typeface="Aptos"/>
                <a:ea typeface="Aptos"/>
                <a:cs typeface="Aptos"/>
              </a:defRPr>
            </a:pPr>
            <a:r>
              <a:rPr sz="2400">
                <a:solidFill>
                  <a:srgbClr val="0B2340"/>
                </a:solidFill>
                <a:latin typeface="Aptos"/>
                <a:ea typeface="Aptos"/>
                <a:cs typeface="Aptos"/>
              </a:rPr>
              <a:t>風險來源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68DA74-EF1F-4DCC-A716-F6E596FF64FC}"/>
              </a:ext>
            </a:extLst>
          </p:cNvPr>
          <p:cNvSpPr>
            <a:spLocks noGrp="1"/>
          </p:cNvSpPr>
          <p:nvPr/>
        </p:nvSpPr>
        <p:spPr>
          <a:xfrm>
            <a:off x="4733925" y="2228850"/>
            <a:ext cx="2743200" cy="2457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2000" b="1" dirty="0" err="1">
                <a:solidFill>
                  <a:srgbClr val="516174"/>
                </a:solidFill>
                <a:latin typeface="Aptos"/>
                <a:ea typeface="Aptos"/>
                <a:cs typeface="Aptos"/>
              </a:rPr>
              <a:t>浪高、風速、陣風、潮位等海象因素會影響船舶穩定性，可能造成延誤或停航</a:t>
            </a:r>
            <a:r>
              <a:rPr sz="2000" b="1" dirty="0">
                <a:solidFill>
                  <a:srgbClr val="516174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0DDAD8D8-DB4F-4B03-978A-750C7A6E41DB}"/>
              </a:ext>
            </a:extLst>
          </p:cNvPr>
          <p:cNvSpPr>
            <a:spLocks noGrp="1"/>
          </p:cNvSpPr>
          <p:nvPr/>
        </p:nvSpPr>
        <p:spPr>
          <a:xfrm>
            <a:off x="8334375" y="1524000"/>
            <a:ext cx="31432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9D9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D4148C-3F6F-4954-93D3-FC29B6396CB6}"/>
              </a:ext>
            </a:extLst>
          </p:cNvPr>
          <p:cNvSpPr>
            <a:spLocks noGrp="1"/>
          </p:cNvSpPr>
          <p:nvPr/>
        </p:nvSpPr>
        <p:spPr>
          <a:xfrm>
            <a:off x="8334375" y="1524000"/>
            <a:ext cx="66675" cy="3143250"/>
          </a:xfrm>
          <a:prstGeom prst="rect">
            <a:avLst/>
          </a:prstGeom>
          <a:solidFill>
            <a:srgbClr val="0E7490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85D165-607C-46CA-9BC9-F9B4D5CC0E0E}"/>
              </a:ext>
            </a:extLst>
          </p:cNvPr>
          <p:cNvSpPr>
            <a:spLocks noGrp="1"/>
          </p:cNvSpPr>
          <p:nvPr/>
        </p:nvSpPr>
        <p:spPr>
          <a:xfrm>
            <a:off x="8543925" y="1695450"/>
            <a:ext cx="2743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B2340"/>
                </a:solidFill>
                <a:latin typeface="Aptos"/>
                <a:ea typeface="Aptos"/>
                <a:cs typeface="Aptos"/>
              </a:defRPr>
            </a:pPr>
            <a:r>
              <a:rPr sz="2400">
                <a:solidFill>
                  <a:srgbClr val="0B2340"/>
                </a:solidFill>
                <a:latin typeface="Aptos"/>
                <a:ea typeface="Aptos"/>
                <a:cs typeface="Aptos"/>
              </a:rPr>
              <a:t>專題切入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33D2D4F-337E-45E7-B276-73BE012B8253}"/>
              </a:ext>
            </a:extLst>
          </p:cNvPr>
          <p:cNvSpPr>
            <a:spLocks noGrp="1"/>
          </p:cNvSpPr>
          <p:nvPr/>
        </p:nvSpPr>
        <p:spPr>
          <a:xfrm>
            <a:off x="8543925" y="2228850"/>
            <a:ext cx="2743200" cy="2457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516174"/>
                </a:solidFill>
                <a:latin typeface="Aptos"/>
                <a:ea typeface="Aptos"/>
                <a:cs typeface="Aptos"/>
              </a:rPr>
              <a:t>建立整合式 App，讓海況資料、船班資料與停航判斷在同一介面呈現。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6D169BD0-F5A5-41B4-B3AB-772BF55F2DD4}"/>
              </a:ext>
            </a:extLst>
          </p:cNvPr>
          <p:cNvSpPr>
            <a:spLocks noGrp="1"/>
          </p:cNvSpPr>
          <p:nvPr/>
        </p:nvSpPr>
        <p:spPr>
          <a:xfrm>
            <a:off x="1714500" y="5143500"/>
            <a:ext cx="8763000" cy="647700"/>
          </a:xfrm>
          <a:prstGeom prst="roundRect">
            <a:avLst>
              <a:gd name="adj" fmla="val 17647"/>
            </a:avLst>
          </a:prstGeom>
          <a:solidFill>
            <a:srgbClr val="0B2340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E9EC2E3-A5FC-4338-A8D1-14AFCD5F13B5}"/>
              </a:ext>
            </a:extLst>
          </p:cNvPr>
          <p:cNvSpPr>
            <a:spLocks noGrp="1"/>
          </p:cNvSpPr>
          <p:nvPr/>
        </p:nvSpPr>
        <p:spPr>
          <a:xfrm>
            <a:off x="2095500" y="530542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目標：提升資訊查詢便利性，提供旅客行程安排與航行安全參考。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4CCFD37-C155-449B-A5EB-7CF748BFD1B4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0B2340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2B7532-54A7-4679-A2CD-9792FA18985C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16174"/>
                </a:solidFill>
                <a:latin typeface="Aptos"/>
                <a:ea typeface="Aptos"/>
                <a:cs typeface="Aptos"/>
              </a:rPr>
              <a:t>智慧海象船班決策與停航通報 App  |  02</a:t>
            </a:r>
          </a:p>
        </p:txBody>
      </p:sp>
    </p:spTree>
    <p:extLst>
      <p:ext uri="{BB962C8B-B14F-4D97-AF65-F5344CB8AC3E}">
        <p14:creationId xmlns:p14="http://schemas.microsoft.com/office/powerpoint/2010/main" val="1180194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C65250DF-CB8A-4AC6-BD76-82CF4F8ABD2C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B2340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B2340"/>
                </a:solidFill>
                <a:latin typeface="Aptos Display"/>
                <a:ea typeface="Aptos Display"/>
                <a:cs typeface="Aptos Display"/>
              </a:rPr>
              <a:t>研究問題與目的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45415B7-613D-42BE-8039-5BD3C67EE688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00100" cy="47625"/>
          </a:xfrm>
          <a:prstGeom prst="rect">
            <a:avLst/>
          </a:prstGeom>
          <a:solidFill>
            <a:srgbClr val="0E7490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B8B1505-AB0B-4A1D-9325-171BC86F982F}"/>
              </a:ext>
            </a:extLst>
          </p:cNvPr>
          <p:cNvSpPr>
            <a:spLocks noGrp="1"/>
          </p:cNvSpPr>
          <p:nvPr/>
        </p:nvSpPr>
        <p:spPr>
          <a:xfrm>
            <a:off x="1619250" y="866775"/>
            <a:ext cx="847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16174"/>
                </a:solidFill>
                <a:latin typeface="Aptos"/>
                <a:ea typeface="Aptos"/>
                <a:cs typeface="Aptos"/>
              </a:rPr>
              <a:t>從資料串接、介面整合到停航判斷，建立可驗證的 App 原型。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79ADFAC6-0B1E-49B6-86AA-FCAD4AB0123D}"/>
              </a:ext>
            </a:extLst>
          </p:cNvPr>
          <p:cNvSpPr>
            <a:spLocks noGrp="1"/>
          </p:cNvSpPr>
          <p:nvPr/>
        </p:nvSpPr>
        <p:spPr>
          <a:xfrm>
            <a:off x="857250" y="1524000"/>
            <a:ext cx="3143250" cy="3286125"/>
          </a:xfrm>
          <a:prstGeom prst="roundRect">
            <a:avLst>
              <a:gd name="adj" fmla="val 3636"/>
            </a:avLst>
          </a:prstGeom>
          <a:solidFill>
            <a:srgbClr val="EFF8FB"/>
          </a:solidFill>
          <a:ln w="9525">
            <a:solidFill>
              <a:srgbClr val="C9D9E6"/>
            </a:solidFill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1DA63356-F250-4187-A686-04CD9C2BCC5F}"/>
              </a:ext>
            </a:extLst>
          </p:cNvPr>
          <p:cNvSpPr>
            <a:spLocks noGrp="1"/>
          </p:cNvSpPr>
          <p:nvPr/>
        </p:nvSpPr>
        <p:spPr>
          <a:xfrm>
            <a:off x="1085850" y="1809750"/>
            <a:ext cx="609600" cy="609600"/>
          </a:xfrm>
          <a:prstGeom prst="ellipse">
            <a:avLst/>
          </a:prstGeom>
          <a:solidFill>
            <a:srgbClr val="0E7490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863667-CB93-40D4-835E-3BED448D8DA6}"/>
              </a:ext>
            </a:extLst>
          </p:cNvPr>
          <p:cNvSpPr>
            <a:spLocks noGrp="1"/>
          </p:cNvSpPr>
          <p:nvPr/>
        </p:nvSpPr>
        <p:spPr>
          <a:xfrm>
            <a:off x="1085850" y="1952625"/>
            <a:ext cx="60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2527E8-E562-43F8-8F6D-A7EDDB3A6657}"/>
              </a:ext>
            </a:extLst>
          </p:cNvPr>
          <p:cNvSpPr>
            <a:spLocks noGrp="1"/>
          </p:cNvSpPr>
          <p:nvPr/>
        </p:nvSpPr>
        <p:spPr>
          <a:xfrm>
            <a:off x="1104900" y="2686050"/>
            <a:ext cx="2647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B23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2340"/>
                </a:solidFill>
                <a:latin typeface="Aptos"/>
                <a:ea typeface="Aptos"/>
                <a:cs typeface="Aptos"/>
              </a:rPr>
              <a:t>整合海況與船班資料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883691-FA2D-4154-AF23-0D4A3B0C745E}"/>
              </a:ext>
            </a:extLst>
          </p:cNvPr>
          <p:cNvSpPr>
            <a:spLocks noGrp="1"/>
          </p:cNvSpPr>
          <p:nvPr/>
        </p:nvSpPr>
        <p:spPr>
          <a:xfrm>
            <a:off x="1104900" y="3184207"/>
            <a:ext cx="26479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2000" dirty="0" err="1">
                <a:solidFill>
                  <a:srgbClr val="0B2340"/>
                </a:solidFill>
                <a:latin typeface="Aptos"/>
                <a:ea typeface="Aptos"/>
                <a:cs typeface="Aptos"/>
              </a:rPr>
              <a:t>串接</a:t>
            </a:r>
            <a:r>
              <a:rPr sz="2000" dirty="0">
                <a:solidFill>
                  <a:srgbClr val="0B2340"/>
                </a:solidFill>
                <a:latin typeface="Aptos"/>
                <a:ea typeface="Aptos"/>
                <a:cs typeface="Aptos"/>
              </a:rPr>
              <a:t> CWA </a:t>
            </a:r>
            <a:r>
              <a:rPr sz="2000" dirty="0" err="1">
                <a:solidFill>
                  <a:srgbClr val="0B2340"/>
                </a:solidFill>
                <a:latin typeface="Aptos"/>
                <a:ea typeface="Aptos"/>
                <a:cs typeface="Aptos"/>
              </a:rPr>
              <a:t>海象觀測</a:t>
            </a:r>
            <a:r>
              <a:rPr sz="2000" dirty="0">
                <a:solidFill>
                  <a:srgbClr val="0B2340"/>
                </a:solidFill>
                <a:latin typeface="Aptos"/>
                <a:ea typeface="Aptos"/>
                <a:cs typeface="Aptos"/>
              </a:rPr>
              <a:t> API 與 TDX/</a:t>
            </a:r>
            <a:r>
              <a:rPr sz="2000" dirty="0" err="1">
                <a:solidFill>
                  <a:srgbClr val="0B2340"/>
                </a:solidFill>
                <a:latin typeface="Aptos"/>
                <a:ea typeface="Aptos"/>
                <a:cs typeface="Aptos"/>
              </a:rPr>
              <a:t>航港船班資料，解析至少</a:t>
            </a:r>
            <a:r>
              <a:rPr sz="2000" dirty="0">
                <a:solidFill>
                  <a:srgbClr val="0B2340"/>
                </a:solidFill>
                <a:latin typeface="Aptos"/>
                <a:ea typeface="Aptos"/>
                <a:cs typeface="Aptos"/>
              </a:rPr>
              <a:t> 5 </a:t>
            </a:r>
            <a:r>
              <a:rPr sz="2000" dirty="0" err="1">
                <a:solidFill>
                  <a:srgbClr val="0B2340"/>
                </a:solidFill>
                <a:latin typeface="Aptos"/>
                <a:ea typeface="Aptos"/>
                <a:cs typeface="Aptos"/>
              </a:rPr>
              <a:t>項海況與</a:t>
            </a:r>
            <a:r>
              <a:rPr sz="2000" dirty="0">
                <a:solidFill>
                  <a:srgbClr val="0B2340"/>
                </a:solidFill>
                <a:latin typeface="Aptos"/>
                <a:ea typeface="Aptos"/>
                <a:cs typeface="Aptos"/>
              </a:rPr>
              <a:t> 5 </a:t>
            </a:r>
            <a:r>
              <a:rPr sz="2000" dirty="0" err="1">
                <a:solidFill>
                  <a:srgbClr val="0B2340"/>
                </a:solidFill>
                <a:latin typeface="Aptos"/>
                <a:ea typeface="Aptos"/>
                <a:cs typeface="Aptos"/>
              </a:rPr>
              <a:t>項船班欄位</a:t>
            </a:r>
            <a:r>
              <a:rPr sz="2000" dirty="0">
                <a:solidFill>
                  <a:srgbClr val="0B2340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15FB7A4E-997B-4B14-A694-2D040A0768E5}"/>
              </a:ext>
            </a:extLst>
          </p:cNvPr>
          <p:cNvSpPr>
            <a:spLocks noGrp="1"/>
          </p:cNvSpPr>
          <p:nvPr/>
        </p:nvSpPr>
        <p:spPr>
          <a:xfrm>
            <a:off x="4572000" y="1524000"/>
            <a:ext cx="3143250" cy="3286125"/>
          </a:xfrm>
          <a:prstGeom prst="roundRect">
            <a:avLst>
              <a:gd name="adj" fmla="val 3636"/>
            </a:avLst>
          </a:prstGeom>
          <a:solidFill>
            <a:srgbClr val="F4F8FF"/>
          </a:solidFill>
          <a:ln w="9525">
            <a:solidFill>
              <a:srgbClr val="C9D9E6"/>
            </a:solidFill>
            <a:prstDash val="solid"/>
          </a:ln>
        </p:spPr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64D51EC2-0A02-4B7E-AE18-D5EBEE5DF6AF}"/>
              </a:ext>
            </a:extLst>
          </p:cNvPr>
          <p:cNvSpPr>
            <a:spLocks noGrp="1"/>
          </p:cNvSpPr>
          <p:nvPr/>
        </p:nvSpPr>
        <p:spPr>
          <a:xfrm>
            <a:off x="4800600" y="1809750"/>
            <a:ext cx="609600" cy="60960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6418C9-428C-49D4-B7CD-1021BF8F2283}"/>
              </a:ext>
            </a:extLst>
          </p:cNvPr>
          <p:cNvSpPr>
            <a:spLocks noGrp="1"/>
          </p:cNvSpPr>
          <p:nvPr/>
        </p:nvSpPr>
        <p:spPr>
          <a:xfrm>
            <a:off x="4800600" y="1952625"/>
            <a:ext cx="60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4E2D578-4088-42BF-8966-E423959FE095}"/>
              </a:ext>
            </a:extLst>
          </p:cNvPr>
          <p:cNvSpPr>
            <a:spLocks noGrp="1"/>
          </p:cNvSpPr>
          <p:nvPr/>
        </p:nvSpPr>
        <p:spPr>
          <a:xfrm>
            <a:off x="4819650" y="2686050"/>
            <a:ext cx="2647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B23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2340"/>
                </a:solidFill>
                <a:latin typeface="Aptos"/>
                <a:ea typeface="Aptos"/>
                <a:cs typeface="Aptos"/>
              </a:rPr>
              <a:t>讓使用者快速閱讀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106C31-74F4-4072-BAC8-5105D894ABA1}"/>
              </a:ext>
            </a:extLst>
          </p:cNvPr>
          <p:cNvSpPr>
            <a:spLocks noGrp="1"/>
          </p:cNvSpPr>
          <p:nvPr/>
        </p:nvSpPr>
        <p:spPr>
          <a:xfrm>
            <a:off x="4819650" y="3184207"/>
            <a:ext cx="26479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2000" dirty="0" err="1">
                <a:solidFill>
                  <a:srgbClr val="0B2340"/>
                </a:solidFill>
                <a:latin typeface="Aptos"/>
                <a:ea typeface="Aptos"/>
                <a:cs typeface="Aptos"/>
              </a:rPr>
              <a:t>設計海況觀測區、船班資訊區與停航判斷結果區，降低跨平台查詢成本</a:t>
            </a:r>
            <a:r>
              <a:rPr sz="2000" dirty="0">
                <a:solidFill>
                  <a:srgbClr val="0B2340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B98948B8-61D3-4725-9D62-141506FCFB5D}"/>
              </a:ext>
            </a:extLst>
          </p:cNvPr>
          <p:cNvSpPr>
            <a:spLocks noGrp="1"/>
          </p:cNvSpPr>
          <p:nvPr/>
        </p:nvSpPr>
        <p:spPr>
          <a:xfrm>
            <a:off x="8286750" y="1524000"/>
            <a:ext cx="3143250" cy="3286125"/>
          </a:xfrm>
          <a:prstGeom prst="roundRect">
            <a:avLst>
              <a:gd name="adj" fmla="val 3636"/>
            </a:avLst>
          </a:prstGeom>
          <a:solidFill>
            <a:srgbClr val="FFF7E8"/>
          </a:solidFill>
          <a:ln w="9525">
            <a:solidFill>
              <a:srgbClr val="C9D9E6"/>
            </a:solidFill>
            <a:prstDash val="solid"/>
          </a:ln>
        </p:spPr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BE7FC715-7BFE-40E8-9F4A-271A592EAB53}"/>
              </a:ext>
            </a:extLst>
          </p:cNvPr>
          <p:cNvSpPr>
            <a:spLocks noGrp="1"/>
          </p:cNvSpPr>
          <p:nvPr/>
        </p:nvSpPr>
        <p:spPr>
          <a:xfrm>
            <a:off x="8515350" y="1809750"/>
            <a:ext cx="609600" cy="60960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F4E4E71-D05F-43BE-A27E-B33CF8A306EF}"/>
              </a:ext>
            </a:extLst>
          </p:cNvPr>
          <p:cNvSpPr>
            <a:spLocks noGrp="1"/>
          </p:cNvSpPr>
          <p:nvPr/>
        </p:nvSpPr>
        <p:spPr>
          <a:xfrm>
            <a:off x="8515350" y="1952625"/>
            <a:ext cx="60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3AD57FB-5E63-4F56-9F05-5C17428E8F44}"/>
              </a:ext>
            </a:extLst>
          </p:cNvPr>
          <p:cNvSpPr>
            <a:spLocks noGrp="1"/>
          </p:cNvSpPr>
          <p:nvPr/>
        </p:nvSpPr>
        <p:spPr>
          <a:xfrm>
            <a:off x="8534400" y="2686050"/>
            <a:ext cx="2647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B23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2340"/>
                </a:solidFill>
                <a:latin typeface="Aptos"/>
                <a:ea typeface="Aptos"/>
                <a:cs typeface="Aptos"/>
              </a:rPr>
              <a:t>量化停航風險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A5311F3-73E4-4371-A31A-D898D021F4A4}"/>
              </a:ext>
            </a:extLst>
          </p:cNvPr>
          <p:cNvSpPr>
            <a:spLocks noGrp="1"/>
          </p:cNvSpPr>
          <p:nvPr/>
        </p:nvSpPr>
        <p:spPr>
          <a:xfrm>
            <a:off x="8534400" y="3184207"/>
            <a:ext cx="26479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B2340"/>
                </a:solidFill>
                <a:latin typeface="Aptos"/>
                <a:ea typeface="Aptos"/>
                <a:cs typeface="Aptos"/>
              </a:rPr>
              <a:t>以浪高、風速、陣風等指標建立規則，輸出正常、延誤或建議停航。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206DCAB-EA3A-4A5C-8376-670753528C31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0B2340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E937641-BBD7-48A0-96FF-EA51477BBEFE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16174"/>
                </a:solidFill>
                <a:latin typeface="Aptos"/>
                <a:ea typeface="Aptos"/>
                <a:cs typeface="Aptos"/>
              </a:rPr>
              <a:t>智慧海象船班決策與停航通報 App  |  03</a:t>
            </a:r>
          </a:p>
        </p:txBody>
      </p:sp>
    </p:spTree>
    <p:extLst>
      <p:ext uri="{BB962C8B-B14F-4D97-AF65-F5344CB8AC3E}">
        <p14:creationId xmlns:p14="http://schemas.microsoft.com/office/powerpoint/2010/main" val="812773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25ACCFF-B0FE-429D-BFE1-3E7B16A52243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B2340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B2340"/>
                </a:solidFill>
                <a:latin typeface="Aptos Display"/>
                <a:ea typeface="Aptos Display"/>
                <a:cs typeface="Aptos Display"/>
              </a:rPr>
              <a:t>使用情境：查詢、判斷、安心出發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26581CB-9396-49AA-B248-06DD8E7E28FA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00100" cy="47625"/>
          </a:xfrm>
          <a:prstGeom prst="rect">
            <a:avLst/>
          </a:prstGeom>
          <a:solidFill>
            <a:srgbClr val="0E7490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2A3EF68-7366-4DA9-B187-8623AD6446A7}"/>
              </a:ext>
            </a:extLst>
          </p:cNvPr>
          <p:cNvSpPr>
            <a:spLocks noGrp="1"/>
          </p:cNvSpPr>
          <p:nvPr/>
        </p:nvSpPr>
        <p:spPr>
          <a:xfrm>
            <a:off x="1619250" y="866775"/>
            <a:ext cx="847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16174"/>
                </a:solidFill>
                <a:latin typeface="Aptos"/>
                <a:ea typeface="Aptos"/>
                <a:cs typeface="Aptos"/>
              </a:rPr>
              <a:t>旅客在搭船前確認海況與船班，App 提供停航判斷與行程建議。</a:t>
            </a: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43447" y="1187148"/>
            <a:ext cx="7105106" cy="5232702"/>
          </a:xfrm>
          <a:prstGeom prst="roundRect">
            <a:avLst>
              <a:gd name="adj" fmla="val 2553"/>
            </a:avLst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80F2DCC-8A89-4924-95D2-6B607AAE46E8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0B2340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CC80AD-5726-491D-8C38-2DA6DFFB22C6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16174"/>
                </a:solidFill>
                <a:latin typeface="Aptos"/>
                <a:ea typeface="Aptos"/>
                <a:cs typeface="Aptos"/>
              </a:rPr>
              <a:t>智慧海象船班決策與停航通報 App  |  04</a:t>
            </a:r>
          </a:p>
        </p:txBody>
      </p:sp>
    </p:spTree>
    <p:extLst>
      <p:ext uri="{BB962C8B-B14F-4D97-AF65-F5344CB8AC3E}">
        <p14:creationId xmlns:p14="http://schemas.microsoft.com/office/powerpoint/2010/main" val="513623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336A6A3-ADC4-4D59-A578-FA86734AEE97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B2340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B2340"/>
                </a:solidFill>
                <a:latin typeface="Aptos Display"/>
                <a:ea typeface="Aptos Display"/>
                <a:cs typeface="Aptos Display"/>
              </a:rPr>
              <a:t>系統功能：App 查詢與停航風險分析並行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71C799-23D0-4DFB-A8E7-1563DC621030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00100" cy="47625"/>
          </a:xfrm>
          <a:prstGeom prst="rect">
            <a:avLst/>
          </a:prstGeom>
          <a:solidFill>
            <a:srgbClr val="0E7490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995E08-E2A0-448A-BD35-DBC45349BDBB}"/>
              </a:ext>
            </a:extLst>
          </p:cNvPr>
          <p:cNvSpPr>
            <a:spLocks noGrp="1"/>
          </p:cNvSpPr>
          <p:nvPr/>
        </p:nvSpPr>
        <p:spPr>
          <a:xfrm>
            <a:off x="1619250" y="866775"/>
            <a:ext cx="847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16174"/>
                </a:solidFill>
                <a:latin typeface="Aptos"/>
                <a:ea typeface="Aptos"/>
                <a:cs typeface="Aptos"/>
              </a:rPr>
              <a:t>功能模組分為 App 資訊查詢與停航風險分析兩大部分。</a:t>
            </a: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23120" y="1257300"/>
            <a:ext cx="6926710" cy="4619625"/>
          </a:xfrm>
          <a:prstGeom prst="roundRect">
            <a:avLst>
              <a:gd name="adj" fmla="val 2474"/>
            </a:avLst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B02B83D-45CD-4908-A873-B0FEDAD9CFAB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0B2340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1F565A5-E51F-40E4-9CD7-3303B2E74DD6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16174"/>
                </a:solidFill>
                <a:latin typeface="Aptos"/>
                <a:ea typeface="Aptos"/>
                <a:cs typeface="Aptos"/>
              </a:rPr>
              <a:t>智慧海象船班決策與停航通報 App  |  05</a:t>
            </a:r>
          </a:p>
        </p:txBody>
      </p:sp>
    </p:spTree>
    <p:extLst>
      <p:ext uri="{BB962C8B-B14F-4D97-AF65-F5344CB8AC3E}">
        <p14:creationId xmlns:p14="http://schemas.microsoft.com/office/powerpoint/2010/main" val="1660084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B77E058-B5AC-43F3-A31B-468DF720C1E1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B2340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B2340"/>
                </a:solidFill>
                <a:latin typeface="Aptos Display"/>
                <a:ea typeface="Aptos Display"/>
                <a:cs typeface="Aptos Display"/>
              </a:rPr>
              <a:t>資料來源與欄位整合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BF9B217-70C7-435E-8395-7432F4C14267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00100" cy="47625"/>
          </a:xfrm>
          <a:prstGeom prst="rect">
            <a:avLst/>
          </a:prstGeom>
          <a:solidFill>
            <a:srgbClr val="0E7490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F7B51F5-93AE-435D-AE2B-7E939BFD8F5C}"/>
              </a:ext>
            </a:extLst>
          </p:cNvPr>
          <p:cNvSpPr>
            <a:spLocks noGrp="1"/>
          </p:cNvSpPr>
          <p:nvPr/>
        </p:nvSpPr>
        <p:spPr>
          <a:xfrm>
            <a:off x="1619250" y="866775"/>
            <a:ext cx="847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16174"/>
                </a:solidFill>
                <a:latin typeface="Aptos"/>
                <a:ea typeface="Aptos"/>
                <a:cs typeface="Aptos"/>
              </a:rPr>
              <a:t>以 CWA 海象資料和 TDX 航港船班資料作為主要資料基礎。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A4118808-685F-45F2-B1A8-198D7FDD9BF6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495300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9D9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8793588-4B7A-4383-B731-6DC5AC0CC45E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66675" cy="2857500"/>
          </a:xfrm>
          <a:prstGeom prst="rect">
            <a:avLst/>
          </a:prstGeom>
          <a:solidFill>
            <a:srgbClr val="0E7490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9210E97-5AEE-42FE-95B2-545A1B20E05C}"/>
              </a:ext>
            </a:extLst>
          </p:cNvPr>
          <p:cNvSpPr>
            <a:spLocks noGrp="1"/>
          </p:cNvSpPr>
          <p:nvPr/>
        </p:nvSpPr>
        <p:spPr>
          <a:xfrm>
            <a:off x="971550" y="1695450"/>
            <a:ext cx="4552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B23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340"/>
                </a:solidFill>
                <a:latin typeface="Aptos"/>
                <a:ea typeface="Aptos"/>
                <a:cs typeface="Aptos"/>
              </a:rPr>
              <a:t>中央氣象署 CWA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DECBE76-93B3-4DEA-9F7D-12C79369AEB9}"/>
              </a:ext>
            </a:extLst>
          </p:cNvPr>
          <p:cNvSpPr>
            <a:spLocks noGrp="1"/>
          </p:cNvSpPr>
          <p:nvPr/>
        </p:nvSpPr>
        <p:spPr>
          <a:xfrm>
            <a:off x="971550" y="2076450"/>
            <a:ext cx="455295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2000" dirty="0" err="1">
                <a:solidFill>
                  <a:srgbClr val="0B2340"/>
                </a:solidFill>
                <a:latin typeface="Aptos"/>
                <a:ea typeface="Aptos"/>
                <a:cs typeface="Aptos"/>
              </a:rPr>
              <a:t>海象觀測資料</a:t>
            </a:r>
            <a:endParaRPr sz="2000" dirty="0">
              <a:solidFill>
                <a:srgbClr val="0B2340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B2340"/>
                </a:solidFill>
                <a:latin typeface="Aptos"/>
                <a:ea typeface="Aptos"/>
                <a:cs typeface="Aptos"/>
              </a:rPr>
              <a:t>• </a:t>
            </a:r>
            <a:r>
              <a:rPr sz="2000" dirty="0" err="1">
                <a:solidFill>
                  <a:srgbClr val="0B2340"/>
                </a:solidFill>
                <a:latin typeface="Aptos"/>
                <a:ea typeface="Aptos"/>
                <a:cs typeface="Aptos"/>
              </a:rPr>
              <a:t>浪高</a:t>
            </a:r>
            <a:endParaRPr sz="2000" dirty="0">
              <a:solidFill>
                <a:srgbClr val="0B2340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B2340"/>
                </a:solidFill>
                <a:latin typeface="Aptos"/>
                <a:ea typeface="Aptos"/>
                <a:cs typeface="Aptos"/>
              </a:rPr>
              <a:t>• </a:t>
            </a:r>
            <a:r>
              <a:rPr sz="2000" dirty="0" err="1">
                <a:solidFill>
                  <a:srgbClr val="0B2340"/>
                </a:solidFill>
                <a:latin typeface="Aptos"/>
                <a:ea typeface="Aptos"/>
                <a:cs typeface="Aptos"/>
              </a:rPr>
              <a:t>風速</a:t>
            </a:r>
            <a:r>
              <a:rPr sz="2000" dirty="0">
                <a:solidFill>
                  <a:srgbClr val="0B2340"/>
                </a:solidFill>
                <a:latin typeface="Aptos"/>
                <a:ea typeface="Aptos"/>
                <a:cs typeface="Aptos"/>
              </a:rPr>
              <a:t> / </a:t>
            </a:r>
            <a:r>
              <a:rPr sz="2000" dirty="0" err="1">
                <a:solidFill>
                  <a:srgbClr val="0B2340"/>
                </a:solidFill>
                <a:latin typeface="Aptos"/>
                <a:ea typeface="Aptos"/>
                <a:cs typeface="Aptos"/>
              </a:rPr>
              <a:t>陣風</a:t>
            </a:r>
            <a:endParaRPr sz="2000" dirty="0">
              <a:solidFill>
                <a:srgbClr val="0B2340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B2340"/>
                </a:solidFill>
                <a:latin typeface="Aptos"/>
                <a:ea typeface="Aptos"/>
                <a:cs typeface="Aptos"/>
              </a:rPr>
              <a:t>• </a:t>
            </a:r>
            <a:r>
              <a:rPr sz="2000" dirty="0" err="1">
                <a:solidFill>
                  <a:srgbClr val="0B2340"/>
                </a:solidFill>
                <a:latin typeface="Aptos"/>
                <a:ea typeface="Aptos"/>
                <a:cs typeface="Aptos"/>
              </a:rPr>
              <a:t>潮位</a:t>
            </a:r>
            <a:endParaRPr sz="2000" dirty="0">
              <a:solidFill>
                <a:srgbClr val="0B2340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B2340"/>
                </a:solidFill>
                <a:latin typeface="Aptos"/>
                <a:ea typeface="Aptos"/>
                <a:cs typeface="Aptos"/>
              </a:rPr>
              <a:t>• </a:t>
            </a:r>
            <a:r>
              <a:rPr sz="2000" dirty="0" err="1">
                <a:solidFill>
                  <a:srgbClr val="0B2340"/>
                </a:solidFill>
                <a:latin typeface="Aptos"/>
                <a:ea typeface="Aptos"/>
                <a:cs typeface="Aptos"/>
              </a:rPr>
              <a:t>觀測時間</a:t>
            </a:r>
            <a:endParaRPr sz="2000" dirty="0">
              <a:solidFill>
                <a:srgbClr val="0B234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CC4ED22-C85A-4105-A7C7-FA0DF4B3E5DC}"/>
              </a:ext>
            </a:extLst>
          </p:cNvPr>
          <p:cNvSpPr>
            <a:spLocks noGrp="1"/>
          </p:cNvSpPr>
          <p:nvPr/>
        </p:nvSpPr>
        <p:spPr>
          <a:xfrm>
            <a:off x="6477000" y="1524000"/>
            <a:ext cx="495300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9D9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B449613-B506-443B-8A04-F01527A09D2F}"/>
              </a:ext>
            </a:extLst>
          </p:cNvPr>
          <p:cNvSpPr>
            <a:spLocks noGrp="1"/>
          </p:cNvSpPr>
          <p:nvPr/>
        </p:nvSpPr>
        <p:spPr>
          <a:xfrm>
            <a:off x="6477000" y="1524000"/>
            <a:ext cx="66675" cy="28575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F66520E-F666-4E02-AE14-4F1B86FDA37C}"/>
              </a:ext>
            </a:extLst>
          </p:cNvPr>
          <p:cNvSpPr>
            <a:spLocks noGrp="1"/>
          </p:cNvSpPr>
          <p:nvPr/>
        </p:nvSpPr>
        <p:spPr>
          <a:xfrm>
            <a:off x="6686550" y="1695450"/>
            <a:ext cx="4552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B23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340"/>
                </a:solidFill>
                <a:latin typeface="Aptos"/>
                <a:ea typeface="Aptos"/>
                <a:cs typeface="Aptos"/>
              </a:rPr>
              <a:t>TDX / 航港船班資料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1BFA12-888A-4535-946E-C0E1E31639F6}"/>
              </a:ext>
            </a:extLst>
          </p:cNvPr>
          <p:cNvSpPr>
            <a:spLocks noGrp="1"/>
          </p:cNvSpPr>
          <p:nvPr/>
        </p:nvSpPr>
        <p:spPr>
          <a:xfrm>
            <a:off x="6686550" y="2076450"/>
            <a:ext cx="455295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B2340"/>
                </a:solidFill>
                <a:latin typeface="Aptos"/>
                <a:ea typeface="Aptos"/>
                <a:cs typeface="Aptos"/>
              </a:rPr>
              <a:t>船班與航線資訊</a:t>
            </a:r>
          </a:p>
          <a:p>
            <a:pPr>
              <a:defRPr sz="127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B2340"/>
                </a:solidFill>
                <a:latin typeface="Aptos"/>
                <a:ea typeface="Aptos"/>
                <a:cs typeface="Aptos"/>
              </a:rPr>
              <a:t>• 船名</a:t>
            </a:r>
          </a:p>
          <a:p>
            <a:pPr>
              <a:defRPr sz="127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B2340"/>
                </a:solidFill>
                <a:latin typeface="Aptos"/>
                <a:ea typeface="Aptos"/>
                <a:cs typeface="Aptos"/>
              </a:rPr>
              <a:t>• 航線名稱</a:t>
            </a:r>
          </a:p>
          <a:p>
            <a:pPr>
              <a:defRPr sz="127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B2340"/>
                </a:solidFill>
                <a:latin typeface="Aptos"/>
                <a:ea typeface="Aptos"/>
                <a:cs typeface="Aptos"/>
              </a:rPr>
              <a:t>• 出發港 / 抵達港</a:t>
            </a:r>
          </a:p>
          <a:p>
            <a:pPr>
              <a:defRPr sz="127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B2340"/>
                </a:solidFill>
                <a:latin typeface="Aptos"/>
                <a:ea typeface="Aptos"/>
                <a:cs typeface="Aptos"/>
              </a:rPr>
              <a:t>• 開航時間與船班狀態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8C8E922F-2314-4A08-8AB2-7D257C3A6D27}"/>
              </a:ext>
            </a:extLst>
          </p:cNvPr>
          <p:cNvSpPr>
            <a:spLocks noGrp="1"/>
          </p:cNvSpPr>
          <p:nvPr/>
        </p:nvSpPr>
        <p:spPr>
          <a:xfrm>
            <a:off x="2333625" y="4905375"/>
            <a:ext cx="7524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9D9E6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EF4D951-113A-4C76-A4F3-0ACAEB13CF76}"/>
              </a:ext>
            </a:extLst>
          </p:cNvPr>
          <p:cNvSpPr>
            <a:spLocks noGrp="1"/>
          </p:cNvSpPr>
          <p:nvPr/>
        </p:nvSpPr>
        <p:spPr>
          <a:xfrm>
            <a:off x="2714625" y="5086350"/>
            <a:ext cx="676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0B234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2340"/>
                </a:solidFill>
                <a:latin typeface="Aptos"/>
                <a:ea typeface="Aptos"/>
                <a:cs typeface="Aptos"/>
              </a:rPr>
              <a:t>資料整合後呈現於海況觀測區、船班資訊區與停航判斷結果區。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9296D2E-EA08-48E1-AC77-E4E3F1FE9510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0B2340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10147DB-ACE5-4990-89D4-C72CD5647107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16174"/>
                </a:solidFill>
                <a:latin typeface="Aptos"/>
                <a:ea typeface="Aptos"/>
                <a:cs typeface="Aptos"/>
              </a:rPr>
              <a:t>智慧海象船班決策與停航通報 App  |  06</a:t>
            </a:r>
          </a:p>
        </p:txBody>
      </p:sp>
    </p:spTree>
    <p:extLst>
      <p:ext uri="{BB962C8B-B14F-4D97-AF65-F5344CB8AC3E}">
        <p14:creationId xmlns:p14="http://schemas.microsoft.com/office/powerpoint/2010/main" val="424519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EC01BE94-F9F0-4F85-8EC5-874DC27441C3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B2340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B2340"/>
                </a:solidFill>
                <a:latin typeface="Aptos Display"/>
                <a:ea typeface="Aptos Display"/>
                <a:cs typeface="Aptos Display"/>
              </a:rPr>
              <a:t>停航判斷：把海象數據轉成旅客可理解的結果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7249B1B-F7A1-4CE4-AE4A-29B45012B738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00100" cy="47625"/>
          </a:xfrm>
          <a:prstGeom prst="rect">
            <a:avLst/>
          </a:prstGeom>
          <a:solidFill>
            <a:srgbClr val="0E7490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4A69ED-5E86-4B5F-8DB2-21EAA0618E6C}"/>
              </a:ext>
            </a:extLst>
          </p:cNvPr>
          <p:cNvSpPr>
            <a:spLocks noGrp="1"/>
          </p:cNvSpPr>
          <p:nvPr/>
        </p:nvSpPr>
        <p:spPr>
          <a:xfrm>
            <a:off x="1619250" y="866775"/>
            <a:ext cx="847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16174"/>
                </a:solidFill>
                <a:latin typeface="Aptos"/>
                <a:ea typeface="Aptos"/>
                <a:cs typeface="Aptos"/>
              </a:rPr>
              <a:t>以浪高、風速與陣風作為核心風險指標，產出正常、延誤或建議停航。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95ACDEB9-1EFD-48D9-B82F-5BDACCA1A58C}"/>
              </a:ext>
            </a:extLst>
          </p:cNvPr>
          <p:cNvSpPr>
            <a:spLocks noGrp="1"/>
          </p:cNvSpPr>
          <p:nvPr/>
        </p:nvSpPr>
        <p:spPr>
          <a:xfrm>
            <a:off x="857250" y="1695450"/>
            <a:ext cx="1809750" cy="1219200"/>
          </a:xfrm>
          <a:prstGeom prst="roundRect">
            <a:avLst>
              <a:gd name="adj" fmla="val 9375"/>
            </a:avLst>
          </a:prstGeom>
          <a:solidFill>
            <a:srgbClr val="EAF6FA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C4E8EAA-C70B-40E9-B34C-D70AF2C6F552}"/>
              </a:ext>
            </a:extLst>
          </p:cNvPr>
          <p:cNvSpPr>
            <a:spLocks noGrp="1"/>
          </p:cNvSpPr>
          <p:nvPr/>
        </p:nvSpPr>
        <p:spPr>
          <a:xfrm>
            <a:off x="857250" y="1933575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B23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2340"/>
                </a:solidFill>
                <a:latin typeface="Aptos"/>
                <a:ea typeface="Aptos"/>
                <a:cs typeface="Aptos"/>
              </a:rPr>
              <a:t>浪高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E6AD98-F915-42AC-8D70-B016D20E32EF}"/>
              </a:ext>
            </a:extLst>
          </p:cNvPr>
          <p:cNvSpPr>
            <a:spLocks noGrp="1"/>
          </p:cNvSpPr>
          <p:nvPr/>
        </p:nvSpPr>
        <p:spPr>
          <a:xfrm>
            <a:off x="1028700" y="2352675"/>
            <a:ext cx="146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dirty="0" err="1">
                <a:solidFill>
                  <a:srgbClr val="0B2340"/>
                </a:solidFill>
                <a:latin typeface="Aptos"/>
                <a:ea typeface="Aptos"/>
                <a:cs typeface="Aptos"/>
              </a:rPr>
              <a:t>波浪過高影響船舶穩定</a:t>
            </a:r>
            <a:endParaRPr dirty="0">
              <a:solidFill>
                <a:srgbClr val="0B234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DC393C7-581B-4856-9C18-F8EB9E72E696}"/>
              </a:ext>
            </a:extLst>
          </p:cNvPr>
          <p:cNvSpPr>
            <a:spLocks noGrp="1"/>
          </p:cNvSpPr>
          <p:nvPr/>
        </p:nvSpPr>
        <p:spPr>
          <a:xfrm>
            <a:off x="3190875" y="1695450"/>
            <a:ext cx="1809750" cy="1219200"/>
          </a:xfrm>
          <a:prstGeom prst="roundRect">
            <a:avLst>
              <a:gd name="adj" fmla="val 9375"/>
            </a:avLst>
          </a:prstGeom>
          <a:solidFill>
            <a:srgbClr val="EAF6FA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2C995A9-6E9E-4350-A6F3-732787F414C4}"/>
              </a:ext>
            </a:extLst>
          </p:cNvPr>
          <p:cNvSpPr>
            <a:spLocks noGrp="1"/>
          </p:cNvSpPr>
          <p:nvPr/>
        </p:nvSpPr>
        <p:spPr>
          <a:xfrm>
            <a:off x="3190875" y="1933575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B23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2340"/>
                </a:solidFill>
                <a:latin typeface="Aptos"/>
                <a:ea typeface="Aptos"/>
                <a:cs typeface="Aptos"/>
              </a:rPr>
              <a:t>風速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8777842-3906-4F98-AE5A-4489A6A60A25}"/>
              </a:ext>
            </a:extLst>
          </p:cNvPr>
          <p:cNvSpPr>
            <a:spLocks noGrp="1"/>
          </p:cNvSpPr>
          <p:nvPr/>
        </p:nvSpPr>
        <p:spPr>
          <a:xfrm>
            <a:off x="3362325" y="2352675"/>
            <a:ext cx="146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dirty="0" err="1">
                <a:solidFill>
                  <a:srgbClr val="0B2340"/>
                </a:solidFill>
                <a:latin typeface="Aptos"/>
                <a:ea typeface="Aptos"/>
                <a:cs typeface="Aptos"/>
              </a:rPr>
              <a:t>強風增加航行風險</a:t>
            </a:r>
            <a:endParaRPr dirty="0">
              <a:solidFill>
                <a:srgbClr val="0B234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886A3CB-8ED0-43FD-B1C8-BA96BCBEA77B}"/>
              </a:ext>
            </a:extLst>
          </p:cNvPr>
          <p:cNvSpPr>
            <a:spLocks noGrp="1"/>
          </p:cNvSpPr>
          <p:nvPr/>
        </p:nvSpPr>
        <p:spPr>
          <a:xfrm>
            <a:off x="5524500" y="1695450"/>
            <a:ext cx="1809750" cy="1219200"/>
          </a:xfrm>
          <a:prstGeom prst="roundRect">
            <a:avLst>
              <a:gd name="adj" fmla="val 9375"/>
            </a:avLst>
          </a:prstGeom>
          <a:solidFill>
            <a:srgbClr val="EAF6FA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4AD597C-968D-4B24-A307-E6920F117C1A}"/>
              </a:ext>
            </a:extLst>
          </p:cNvPr>
          <p:cNvSpPr>
            <a:spLocks noGrp="1"/>
          </p:cNvSpPr>
          <p:nvPr/>
        </p:nvSpPr>
        <p:spPr>
          <a:xfrm>
            <a:off x="5524500" y="1933575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B23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2340"/>
                </a:solidFill>
                <a:latin typeface="Aptos"/>
                <a:ea typeface="Aptos"/>
                <a:cs typeface="Aptos"/>
              </a:rPr>
              <a:t>陣風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288F202-7B59-45E0-8A4B-3DD8813E8B91}"/>
              </a:ext>
            </a:extLst>
          </p:cNvPr>
          <p:cNvSpPr>
            <a:spLocks noGrp="1"/>
          </p:cNvSpPr>
          <p:nvPr/>
        </p:nvSpPr>
        <p:spPr>
          <a:xfrm>
            <a:off x="5695950" y="2352675"/>
            <a:ext cx="146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0B2340"/>
                </a:solidFill>
                <a:latin typeface="Aptos"/>
                <a:ea typeface="Aptos"/>
                <a:cs typeface="Aptos"/>
              </a:rPr>
              <a:t>突發風勢影響安全</a:t>
            </a:r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AED2AB05-471F-4124-9017-01C892F9C98F}"/>
              </a:ext>
            </a:extLst>
          </p:cNvPr>
          <p:cNvSpPr>
            <a:spLocks noGrp="1"/>
          </p:cNvSpPr>
          <p:nvPr/>
        </p:nvSpPr>
        <p:spPr>
          <a:xfrm>
            <a:off x="7524750" y="2000250"/>
            <a:ext cx="876300" cy="609600"/>
          </a:xfrm>
          <a:prstGeom prst="rightArrow">
            <a:avLst/>
          </a:prstGeom>
          <a:solidFill>
            <a:srgbClr val="0E7490"/>
          </a:solidFill>
          <a:ln w="0">
            <a:noFill/>
            <a:prstDash val="solid"/>
          </a:ln>
        </p:spPr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FB4D4182-94D5-47D5-8EE0-635002A4D740}"/>
              </a:ext>
            </a:extLst>
          </p:cNvPr>
          <p:cNvSpPr>
            <a:spLocks noGrp="1"/>
          </p:cNvSpPr>
          <p:nvPr/>
        </p:nvSpPr>
        <p:spPr>
          <a:xfrm>
            <a:off x="8667750" y="1600200"/>
            <a:ext cx="2476500" cy="1447800"/>
          </a:xfrm>
          <a:prstGeom prst="roundRect">
            <a:avLst>
              <a:gd name="adj" fmla="val 7895"/>
            </a:avLst>
          </a:prstGeom>
          <a:solidFill>
            <a:srgbClr val="0B2340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9B766D7-2176-4B09-93CA-2349A47264A6}"/>
              </a:ext>
            </a:extLst>
          </p:cNvPr>
          <p:cNvSpPr>
            <a:spLocks noGrp="1"/>
          </p:cNvSpPr>
          <p:nvPr/>
        </p:nvSpPr>
        <p:spPr>
          <a:xfrm>
            <a:off x="8858250" y="1952625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風險等級判斷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EECC9DC-A142-4C9F-BA14-C60FB8B1C064}"/>
              </a:ext>
            </a:extLst>
          </p:cNvPr>
          <p:cNvSpPr>
            <a:spLocks noGrp="1"/>
          </p:cNvSpPr>
          <p:nvPr/>
        </p:nvSpPr>
        <p:spPr>
          <a:xfrm>
            <a:off x="8858250" y="24003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DCEAF4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DCEAF4"/>
                </a:solidFill>
                <a:latin typeface="Aptos"/>
                <a:ea typeface="Aptos"/>
                <a:cs typeface="Aptos"/>
              </a:rPr>
              <a:t>綜合海況與船班狀態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35EB3ECA-B388-41E2-8D73-EC5D2D245658}"/>
              </a:ext>
            </a:extLst>
          </p:cNvPr>
          <p:cNvSpPr>
            <a:spLocks noGrp="1"/>
          </p:cNvSpPr>
          <p:nvPr/>
        </p:nvSpPr>
        <p:spPr>
          <a:xfrm>
            <a:off x="2000250" y="4095750"/>
            <a:ext cx="22860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DB91FE0-C18D-4DBC-944E-CF50B590DFDC}"/>
              </a:ext>
            </a:extLst>
          </p:cNvPr>
          <p:cNvSpPr>
            <a:spLocks noGrp="1"/>
          </p:cNvSpPr>
          <p:nvPr/>
        </p:nvSpPr>
        <p:spPr>
          <a:xfrm>
            <a:off x="2000250" y="426720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正常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44348B4-BDF5-4372-A5E3-BBDB0968263F}"/>
              </a:ext>
            </a:extLst>
          </p:cNvPr>
          <p:cNvSpPr>
            <a:spLocks noGrp="1"/>
          </p:cNvSpPr>
          <p:nvPr/>
        </p:nvSpPr>
        <p:spPr>
          <a:xfrm>
            <a:off x="2000250" y="46672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0B2340"/>
                </a:solidFill>
                <a:latin typeface="Aptos"/>
                <a:ea typeface="Aptos"/>
                <a:cs typeface="Aptos"/>
              </a:rPr>
              <a:t>可正常搭船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56B60897-ADEA-4FF5-B034-DED9E782B94D}"/>
              </a:ext>
            </a:extLst>
          </p:cNvPr>
          <p:cNvSpPr>
            <a:spLocks noGrp="1"/>
          </p:cNvSpPr>
          <p:nvPr/>
        </p:nvSpPr>
        <p:spPr>
          <a:xfrm>
            <a:off x="4857750" y="4095750"/>
            <a:ext cx="22860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F1C27AA-CEA7-4BDD-B01D-FC14852F7282}"/>
              </a:ext>
            </a:extLst>
          </p:cNvPr>
          <p:cNvSpPr>
            <a:spLocks noGrp="1"/>
          </p:cNvSpPr>
          <p:nvPr/>
        </p:nvSpPr>
        <p:spPr>
          <a:xfrm>
            <a:off x="4857750" y="426720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延誤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D45B0DF-17AA-4FE2-A897-5026E679CBED}"/>
              </a:ext>
            </a:extLst>
          </p:cNvPr>
          <p:cNvSpPr>
            <a:spLocks noGrp="1"/>
          </p:cNvSpPr>
          <p:nvPr/>
        </p:nvSpPr>
        <p:spPr>
          <a:xfrm>
            <a:off x="4857750" y="46672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0B2340"/>
                </a:solidFill>
                <a:latin typeface="Aptos"/>
                <a:ea typeface="Aptos"/>
                <a:cs typeface="Aptos"/>
              </a:rPr>
              <a:t>可能延誤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D7A0BD4B-18D8-4AEA-AD79-450516A47857}"/>
              </a:ext>
            </a:extLst>
          </p:cNvPr>
          <p:cNvSpPr>
            <a:spLocks noGrp="1"/>
          </p:cNvSpPr>
          <p:nvPr/>
        </p:nvSpPr>
        <p:spPr>
          <a:xfrm>
            <a:off x="7715250" y="4095750"/>
            <a:ext cx="22860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E11D48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B3FEFAD-7FC1-4526-B3B0-A9B29C24634E}"/>
              </a:ext>
            </a:extLst>
          </p:cNvPr>
          <p:cNvSpPr>
            <a:spLocks noGrp="1"/>
          </p:cNvSpPr>
          <p:nvPr/>
        </p:nvSpPr>
        <p:spPr>
          <a:xfrm>
            <a:off x="7715250" y="426720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建議停航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52D9177-67DE-44FE-8712-4AA740B77E71}"/>
              </a:ext>
            </a:extLst>
          </p:cNvPr>
          <p:cNvSpPr>
            <a:spLocks noGrp="1"/>
          </p:cNvSpPr>
          <p:nvPr/>
        </p:nvSpPr>
        <p:spPr>
          <a:xfrm>
            <a:off x="7715250" y="46672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0B2340"/>
                </a:solidFill>
                <a:latin typeface="Aptos"/>
                <a:ea typeface="Aptos"/>
                <a:cs typeface="Aptos"/>
              </a:rPr>
              <a:t>不建議出航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E5D291-D69A-4876-8AFC-73986D8A9050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0B2340"/>
          </a:solidFill>
          <a:ln w="0"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2226C3E-EFC9-4A1B-9032-F8896B005400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16174"/>
                </a:solidFill>
                <a:latin typeface="Aptos"/>
                <a:ea typeface="Aptos"/>
                <a:cs typeface="Aptos"/>
              </a:rPr>
              <a:t>智慧海象船班決策與停航通報 App  |  07</a:t>
            </a:r>
          </a:p>
        </p:txBody>
      </p:sp>
    </p:spTree>
    <p:extLst>
      <p:ext uri="{BB962C8B-B14F-4D97-AF65-F5344CB8AC3E}">
        <p14:creationId xmlns:p14="http://schemas.microsoft.com/office/powerpoint/2010/main" val="1598689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DC5C3C11-E0B7-4A0B-90A7-F2BD3FE2BDA6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B2340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B2340"/>
                </a:solidFill>
                <a:latin typeface="Aptos Display"/>
                <a:ea typeface="Aptos Display"/>
                <a:cs typeface="Aptos Display"/>
              </a:rPr>
              <a:t>市場比較：本研究 App 的差異化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45B9D6-2C30-4014-A63A-C92E1FF96E77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00100" cy="47625"/>
          </a:xfrm>
          <a:prstGeom prst="rect">
            <a:avLst/>
          </a:prstGeom>
          <a:solidFill>
            <a:srgbClr val="0E7490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171A188-EAF7-4751-80F0-CEF3DD064728}"/>
              </a:ext>
            </a:extLst>
          </p:cNvPr>
          <p:cNvSpPr>
            <a:spLocks noGrp="1"/>
          </p:cNvSpPr>
          <p:nvPr/>
        </p:nvSpPr>
        <p:spPr>
          <a:xfrm>
            <a:off x="1619250" y="866775"/>
            <a:ext cx="847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16174"/>
                </a:solidFill>
                <a:latin typeface="Aptos"/>
                <a:ea typeface="Aptos"/>
                <a:cs typeface="Aptos"/>
              </a:rPr>
              <a:t>多數平台提供單一資訊，本 App 同時整合海況、船班與停航判斷。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477500-C498-4C69-B0C9-06F0296427B6}"/>
              </a:ext>
            </a:extLst>
          </p:cNvPr>
          <p:cNvSpPr>
            <a:spLocks noGrp="1"/>
          </p:cNvSpPr>
          <p:nvPr/>
        </p:nvSpPr>
        <p:spPr>
          <a:xfrm>
            <a:off x="1143000" y="1428750"/>
            <a:ext cx="2762250" cy="647700"/>
          </a:xfrm>
          <a:prstGeom prst="rect">
            <a:avLst/>
          </a:prstGeom>
          <a:solidFill>
            <a:srgbClr val="0B2340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D92BE0-F24A-4EB2-A91F-A4060D4688E3}"/>
              </a:ext>
            </a:extLst>
          </p:cNvPr>
          <p:cNvSpPr>
            <a:spLocks noGrp="1"/>
          </p:cNvSpPr>
          <p:nvPr/>
        </p:nvSpPr>
        <p:spPr>
          <a:xfrm>
            <a:off x="1238250" y="161925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系統名稱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8DD856-7C9D-425B-8777-03FDF88D881F}"/>
              </a:ext>
            </a:extLst>
          </p:cNvPr>
          <p:cNvSpPr>
            <a:spLocks noGrp="1"/>
          </p:cNvSpPr>
          <p:nvPr/>
        </p:nvSpPr>
        <p:spPr>
          <a:xfrm>
            <a:off x="3905250" y="1428750"/>
            <a:ext cx="1476375" cy="647700"/>
          </a:xfrm>
          <a:prstGeom prst="rect">
            <a:avLst/>
          </a:prstGeom>
          <a:solidFill>
            <a:srgbClr val="0B2340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14140A-157A-49CE-A0C9-BCA3205D3AEC}"/>
              </a:ext>
            </a:extLst>
          </p:cNvPr>
          <p:cNvSpPr>
            <a:spLocks noGrp="1"/>
          </p:cNvSpPr>
          <p:nvPr/>
        </p:nvSpPr>
        <p:spPr>
          <a:xfrm>
            <a:off x="4000500" y="1619250"/>
            <a:ext cx="1285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海況查詢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293A49-230D-446E-8B77-50B04BEE45B9}"/>
              </a:ext>
            </a:extLst>
          </p:cNvPr>
          <p:cNvSpPr>
            <a:spLocks noGrp="1"/>
          </p:cNvSpPr>
          <p:nvPr/>
        </p:nvSpPr>
        <p:spPr>
          <a:xfrm>
            <a:off x="5381625" y="1428750"/>
            <a:ext cx="1476375" cy="647700"/>
          </a:xfrm>
          <a:prstGeom prst="rect">
            <a:avLst/>
          </a:prstGeom>
          <a:solidFill>
            <a:srgbClr val="0B2340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DC26D2-17BF-4E65-A926-A335597A8B69}"/>
              </a:ext>
            </a:extLst>
          </p:cNvPr>
          <p:cNvSpPr>
            <a:spLocks noGrp="1"/>
          </p:cNvSpPr>
          <p:nvPr/>
        </p:nvSpPr>
        <p:spPr>
          <a:xfrm>
            <a:off x="5476875" y="1619250"/>
            <a:ext cx="1285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船班查詢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F60B1A-6012-4DAB-8A6E-7AC8F6734A08}"/>
              </a:ext>
            </a:extLst>
          </p:cNvPr>
          <p:cNvSpPr>
            <a:spLocks noGrp="1"/>
          </p:cNvSpPr>
          <p:nvPr/>
        </p:nvSpPr>
        <p:spPr>
          <a:xfrm>
            <a:off x="6858000" y="1428750"/>
            <a:ext cx="1476375" cy="647700"/>
          </a:xfrm>
          <a:prstGeom prst="rect">
            <a:avLst/>
          </a:prstGeom>
          <a:solidFill>
            <a:srgbClr val="0B2340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C8A8E0C-BE0C-4169-AF9C-1CA55E4CF595}"/>
              </a:ext>
            </a:extLst>
          </p:cNvPr>
          <p:cNvSpPr>
            <a:spLocks noGrp="1"/>
          </p:cNvSpPr>
          <p:nvPr/>
        </p:nvSpPr>
        <p:spPr>
          <a:xfrm>
            <a:off x="6953250" y="1619250"/>
            <a:ext cx="1285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停航判斷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D2AF7DE-7D55-4970-B13C-B4C11926838C}"/>
              </a:ext>
            </a:extLst>
          </p:cNvPr>
          <p:cNvSpPr>
            <a:spLocks noGrp="1"/>
          </p:cNvSpPr>
          <p:nvPr/>
        </p:nvSpPr>
        <p:spPr>
          <a:xfrm>
            <a:off x="8334375" y="1428750"/>
            <a:ext cx="1476375" cy="647700"/>
          </a:xfrm>
          <a:prstGeom prst="rect">
            <a:avLst/>
          </a:prstGeom>
          <a:solidFill>
            <a:srgbClr val="0B2340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3421BA8-024F-4584-935C-7A774963ABB5}"/>
              </a:ext>
            </a:extLst>
          </p:cNvPr>
          <p:cNvSpPr>
            <a:spLocks noGrp="1"/>
          </p:cNvSpPr>
          <p:nvPr/>
        </p:nvSpPr>
        <p:spPr>
          <a:xfrm>
            <a:off x="8429625" y="1619250"/>
            <a:ext cx="1285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資料整合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677F0AA-CB69-4A11-9A26-EC8E76912E5C}"/>
              </a:ext>
            </a:extLst>
          </p:cNvPr>
          <p:cNvSpPr>
            <a:spLocks noGrp="1"/>
          </p:cNvSpPr>
          <p:nvPr/>
        </p:nvSpPr>
        <p:spPr>
          <a:xfrm>
            <a:off x="1143000" y="2076450"/>
            <a:ext cx="2762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6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81FD81A-6425-4DD0-B79C-C113898A4AD1}"/>
              </a:ext>
            </a:extLst>
          </p:cNvPr>
          <p:cNvSpPr>
            <a:spLocks noGrp="1"/>
          </p:cNvSpPr>
          <p:nvPr/>
        </p:nvSpPr>
        <p:spPr>
          <a:xfrm>
            <a:off x="1238250" y="2257425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中央氣象署海況查詢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C3D0609-E1B9-49C4-8920-7AD13E981FDD}"/>
              </a:ext>
            </a:extLst>
          </p:cNvPr>
          <p:cNvSpPr>
            <a:spLocks noGrp="1"/>
          </p:cNvSpPr>
          <p:nvPr/>
        </p:nvSpPr>
        <p:spPr>
          <a:xfrm>
            <a:off x="3905250" y="2076450"/>
            <a:ext cx="1476375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6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81C92C6-A7AE-4501-AF42-9FBF3B9082CB}"/>
              </a:ext>
            </a:extLst>
          </p:cNvPr>
          <p:cNvSpPr>
            <a:spLocks noGrp="1"/>
          </p:cNvSpPr>
          <p:nvPr/>
        </p:nvSpPr>
        <p:spPr>
          <a:xfrm>
            <a:off x="4000500" y="2257425"/>
            <a:ext cx="1285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5B1492-69CC-4DF6-B507-659FB58124BB}"/>
              </a:ext>
            </a:extLst>
          </p:cNvPr>
          <p:cNvSpPr>
            <a:spLocks noGrp="1"/>
          </p:cNvSpPr>
          <p:nvPr/>
        </p:nvSpPr>
        <p:spPr>
          <a:xfrm>
            <a:off x="5381625" y="2076450"/>
            <a:ext cx="1476375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6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4D7A44C-F4B5-4B38-AF79-0FA36192AE1C}"/>
              </a:ext>
            </a:extLst>
          </p:cNvPr>
          <p:cNvSpPr>
            <a:spLocks noGrp="1"/>
          </p:cNvSpPr>
          <p:nvPr/>
        </p:nvSpPr>
        <p:spPr>
          <a:xfrm>
            <a:off x="5476875" y="2257425"/>
            <a:ext cx="1285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✗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1B5118F-0D57-4BBB-A83E-AA1AFAFFFF3D}"/>
              </a:ext>
            </a:extLst>
          </p:cNvPr>
          <p:cNvSpPr>
            <a:spLocks noGrp="1"/>
          </p:cNvSpPr>
          <p:nvPr/>
        </p:nvSpPr>
        <p:spPr>
          <a:xfrm>
            <a:off x="6858000" y="2076450"/>
            <a:ext cx="1476375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6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E36F157-1D5E-4344-B91F-D3B92DDD943D}"/>
              </a:ext>
            </a:extLst>
          </p:cNvPr>
          <p:cNvSpPr>
            <a:spLocks noGrp="1"/>
          </p:cNvSpPr>
          <p:nvPr/>
        </p:nvSpPr>
        <p:spPr>
          <a:xfrm>
            <a:off x="6953250" y="2257425"/>
            <a:ext cx="1285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✗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0787561-7AB3-4B89-8198-469B37243A3E}"/>
              </a:ext>
            </a:extLst>
          </p:cNvPr>
          <p:cNvSpPr>
            <a:spLocks noGrp="1"/>
          </p:cNvSpPr>
          <p:nvPr/>
        </p:nvSpPr>
        <p:spPr>
          <a:xfrm>
            <a:off x="8334375" y="2076450"/>
            <a:ext cx="1476375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6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3A77BAE-C441-4D83-84DB-AEDB123A81F7}"/>
              </a:ext>
            </a:extLst>
          </p:cNvPr>
          <p:cNvSpPr>
            <a:spLocks noGrp="1"/>
          </p:cNvSpPr>
          <p:nvPr/>
        </p:nvSpPr>
        <p:spPr>
          <a:xfrm>
            <a:off x="8429625" y="2257425"/>
            <a:ext cx="1285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✗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BE674E8-E048-4200-B130-E0121F17BB7C}"/>
              </a:ext>
            </a:extLst>
          </p:cNvPr>
          <p:cNvSpPr>
            <a:spLocks noGrp="1"/>
          </p:cNvSpPr>
          <p:nvPr/>
        </p:nvSpPr>
        <p:spPr>
          <a:xfrm>
            <a:off x="1143000" y="2724150"/>
            <a:ext cx="2762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6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D9A0F9D-2344-4A92-86C5-C8007672C357}"/>
              </a:ext>
            </a:extLst>
          </p:cNvPr>
          <p:cNvSpPr>
            <a:spLocks noGrp="1"/>
          </p:cNvSpPr>
          <p:nvPr/>
        </p:nvSpPr>
        <p:spPr>
          <a:xfrm>
            <a:off x="1238250" y="2905125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航港局船班資訊系統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6929143-0852-4729-BAE6-F9910CF8D10F}"/>
              </a:ext>
            </a:extLst>
          </p:cNvPr>
          <p:cNvSpPr>
            <a:spLocks noGrp="1"/>
          </p:cNvSpPr>
          <p:nvPr/>
        </p:nvSpPr>
        <p:spPr>
          <a:xfrm>
            <a:off x="3905250" y="2724150"/>
            <a:ext cx="1476375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6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C865CDC-ACCC-45BB-908F-33A70B0D3C6B}"/>
              </a:ext>
            </a:extLst>
          </p:cNvPr>
          <p:cNvSpPr>
            <a:spLocks noGrp="1"/>
          </p:cNvSpPr>
          <p:nvPr/>
        </p:nvSpPr>
        <p:spPr>
          <a:xfrm>
            <a:off x="4000500" y="2905125"/>
            <a:ext cx="1285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✗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5FF9817-F37F-467C-9582-6FD061F006A8}"/>
              </a:ext>
            </a:extLst>
          </p:cNvPr>
          <p:cNvSpPr>
            <a:spLocks noGrp="1"/>
          </p:cNvSpPr>
          <p:nvPr/>
        </p:nvSpPr>
        <p:spPr>
          <a:xfrm>
            <a:off x="5381625" y="2724150"/>
            <a:ext cx="1476375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6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843F91C-676F-4AD8-8CF3-42C6968B8A1F}"/>
              </a:ext>
            </a:extLst>
          </p:cNvPr>
          <p:cNvSpPr>
            <a:spLocks noGrp="1"/>
          </p:cNvSpPr>
          <p:nvPr/>
        </p:nvSpPr>
        <p:spPr>
          <a:xfrm>
            <a:off x="5476875" y="2905125"/>
            <a:ext cx="1285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208297B-5FC8-4454-B24D-0B6429A956B4}"/>
              </a:ext>
            </a:extLst>
          </p:cNvPr>
          <p:cNvSpPr>
            <a:spLocks noGrp="1"/>
          </p:cNvSpPr>
          <p:nvPr/>
        </p:nvSpPr>
        <p:spPr>
          <a:xfrm>
            <a:off x="6858000" y="2724150"/>
            <a:ext cx="1476375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6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122E7BA-7C83-43A0-B7F7-52D61A36E9C4}"/>
              </a:ext>
            </a:extLst>
          </p:cNvPr>
          <p:cNvSpPr>
            <a:spLocks noGrp="1"/>
          </p:cNvSpPr>
          <p:nvPr/>
        </p:nvSpPr>
        <p:spPr>
          <a:xfrm>
            <a:off x="6953250" y="2905125"/>
            <a:ext cx="1285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✗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34BBD48-EB4E-4E82-9DE8-E159F93456BE}"/>
              </a:ext>
            </a:extLst>
          </p:cNvPr>
          <p:cNvSpPr>
            <a:spLocks noGrp="1"/>
          </p:cNvSpPr>
          <p:nvPr/>
        </p:nvSpPr>
        <p:spPr>
          <a:xfrm>
            <a:off x="8334375" y="2724150"/>
            <a:ext cx="1476375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6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8867EF8-678B-4C8D-9EE0-EB6235004580}"/>
              </a:ext>
            </a:extLst>
          </p:cNvPr>
          <p:cNvSpPr>
            <a:spLocks noGrp="1"/>
          </p:cNvSpPr>
          <p:nvPr/>
        </p:nvSpPr>
        <p:spPr>
          <a:xfrm>
            <a:off x="8429625" y="2905125"/>
            <a:ext cx="1285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✗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182CFC8-E941-4F62-BD72-54FB5A57AB5F}"/>
              </a:ext>
            </a:extLst>
          </p:cNvPr>
          <p:cNvSpPr>
            <a:spLocks noGrp="1"/>
          </p:cNvSpPr>
          <p:nvPr/>
        </p:nvSpPr>
        <p:spPr>
          <a:xfrm>
            <a:off x="1143000" y="3371850"/>
            <a:ext cx="2762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6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69CD132-E0EF-44B2-8DCC-B1A4A24A3611}"/>
              </a:ext>
            </a:extLst>
          </p:cNvPr>
          <p:cNvSpPr>
            <a:spLocks noGrp="1"/>
          </p:cNvSpPr>
          <p:nvPr/>
        </p:nvSpPr>
        <p:spPr>
          <a:xfrm>
            <a:off x="1238250" y="3552825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TDX 運輸資料服務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B32BA17-75B7-498B-B665-DCC382461A4D}"/>
              </a:ext>
            </a:extLst>
          </p:cNvPr>
          <p:cNvSpPr>
            <a:spLocks noGrp="1"/>
          </p:cNvSpPr>
          <p:nvPr/>
        </p:nvSpPr>
        <p:spPr>
          <a:xfrm>
            <a:off x="3905250" y="3371850"/>
            <a:ext cx="1476375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6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3BE289F-7A7B-43D9-B6F5-C4A77E2080B6}"/>
              </a:ext>
            </a:extLst>
          </p:cNvPr>
          <p:cNvSpPr>
            <a:spLocks noGrp="1"/>
          </p:cNvSpPr>
          <p:nvPr/>
        </p:nvSpPr>
        <p:spPr>
          <a:xfrm>
            <a:off x="4000500" y="3552825"/>
            <a:ext cx="1285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✗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2A344CF-806B-4467-B7EE-71F1D7124FE9}"/>
              </a:ext>
            </a:extLst>
          </p:cNvPr>
          <p:cNvSpPr>
            <a:spLocks noGrp="1"/>
          </p:cNvSpPr>
          <p:nvPr/>
        </p:nvSpPr>
        <p:spPr>
          <a:xfrm>
            <a:off x="5381625" y="3371850"/>
            <a:ext cx="1476375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6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604C21F-D3B4-480F-8B33-B6EAED271C40}"/>
              </a:ext>
            </a:extLst>
          </p:cNvPr>
          <p:cNvSpPr>
            <a:spLocks noGrp="1"/>
          </p:cNvSpPr>
          <p:nvPr/>
        </p:nvSpPr>
        <p:spPr>
          <a:xfrm>
            <a:off x="5476875" y="3552825"/>
            <a:ext cx="1285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7D14F10-E6C7-4CA2-B3D7-2EED8D43CA11}"/>
              </a:ext>
            </a:extLst>
          </p:cNvPr>
          <p:cNvSpPr>
            <a:spLocks noGrp="1"/>
          </p:cNvSpPr>
          <p:nvPr/>
        </p:nvSpPr>
        <p:spPr>
          <a:xfrm>
            <a:off x="6858000" y="3371850"/>
            <a:ext cx="1476375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6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6971683-B5BA-4BE2-88B0-502F585EDB9D}"/>
              </a:ext>
            </a:extLst>
          </p:cNvPr>
          <p:cNvSpPr>
            <a:spLocks noGrp="1"/>
          </p:cNvSpPr>
          <p:nvPr/>
        </p:nvSpPr>
        <p:spPr>
          <a:xfrm>
            <a:off x="6953250" y="3552825"/>
            <a:ext cx="1285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✗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879D285-2C8E-4959-BA52-51097BAFD132}"/>
              </a:ext>
            </a:extLst>
          </p:cNvPr>
          <p:cNvSpPr>
            <a:spLocks noGrp="1"/>
          </p:cNvSpPr>
          <p:nvPr/>
        </p:nvSpPr>
        <p:spPr>
          <a:xfrm>
            <a:off x="8334375" y="3371850"/>
            <a:ext cx="1476375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6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4AF9274-DB49-400C-A720-44AE3CB37532}"/>
              </a:ext>
            </a:extLst>
          </p:cNvPr>
          <p:cNvSpPr>
            <a:spLocks noGrp="1"/>
          </p:cNvSpPr>
          <p:nvPr/>
        </p:nvSpPr>
        <p:spPr>
          <a:xfrm>
            <a:off x="8429625" y="3552825"/>
            <a:ext cx="1285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✗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821CA68-6DA2-4F8C-8F0D-B9074CFD4B9E}"/>
              </a:ext>
            </a:extLst>
          </p:cNvPr>
          <p:cNvSpPr>
            <a:spLocks noGrp="1"/>
          </p:cNvSpPr>
          <p:nvPr/>
        </p:nvSpPr>
        <p:spPr>
          <a:xfrm>
            <a:off x="1143000" y="4019550"/>
            <a:ext cx="2762250" cy="647700"/>
          </a:xfrm>
          <a:prstGeom prst="rect">
            <a:avLst/>
          </a:prstGeom>
          <a:solidFill>
            <a:srgbClr val="E7F7EF"/>
          </a:solidFill>
          <a:ln w="9525">
            <a:solidFill>
              <a:srgbClr val="C9D9E6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15B7411-CF93-4015-B057-DC0E02E3FB30}"/>
              </a:ext>
            </a:extLst>
          </p:cNvPr>
          <p:cNvSpPr>
            <a:spLocks noGrp="1"/>
          </p:cNvSpPr>
          <p:nvPr/>
        </p:nvSpPr>
        <p:spPr>
          <a:xfrm>
            <a:off x="1238250" y="4200525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本研究 App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68544A8-ADED-4010-9617-ACCA0EEA6CE7}"/>
              </a:ext>
            </a:extLst>
          </p:cNvPr>
          <p:cNvSpPr>
            <a:spLocks noGrp="1"/>
          </p:cNvSpPr>
          <p:nvPr/>
        </p:nvSpPr>
        <p:spPr>
          <a:xfrm>
            <a:off x="3905250" y="4019550"/>
            <a:ext cx="1476375" cy="647700"/>
          </a:xfrm>
          <a:prstGeom prst="rect">
            <a:avLst/>
          </a:prstGeom>
          <a:solidFill>
            <a:srgbClr val="E7F7EF"/>
          </a:solidFill>
          <a:ln w="9525">
            <a:solidFill>
              <a:srgbClr val="C9D9E6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6FE23C8-7123-4F66-AA75-87728BE9F9B4}"/>
              </a:ext>
            </a:extLst>
          </p:cNvPr>
          <p:cNvSpPr>
            <a:spLocks noGrp="1"/>
          </p:cNvSpPr>
          <p:nvPr/>
        </p:nvSpPr>
        <p:spPr>
          <a:xfrm>
            <a:off x="4000500" y="4200525"/>
            <a:ext cx="1285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332A8B4-22A0-4266-BC58-6CDB6B1000E8}"/>
              </a:ext>
            </a:extLst>
          </p:cNvPr>
          <p:cNvSpPr>
            <a:spLocks noGrp="1"/>
          </p:cNvSpPr>
          <p:nvPr/>
        </p:nvSpPr>
        <p:spPr>
          <a:xfrm>
            <a:off x="5381625" y="4019550"/>
            <a:ext cx="1476375" cy="647700"/>
          </a:xfrm>
          <a:prstGeom prst="rect">
            <a:avLst/>
          </a:prstGeom>
          <a:solidFill>
            <a:srgbClr val="E7F7EF"/>
          </a:solidFill>
          <a:ln w="9525">
            <a:solidFill>
              <a:srgbClr val="C9D9E6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D7FD33F-A6DD-4EFA-82A1-4DEEDB393344}"/>
              </a:ext>
            </a:extLst>
          </p:cNvPr>
          <p:cNvSpPr>
            <a:spLocks noGrp="1"/>
          </p:cNvSpPr>
          <p:nvPr/>
        </p:nvSpPr>
        <p:spPr>
          <a:xfrm>
            <a:off x="5476875" y="4200525"/>
            <a:ext cx="1285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E2F9DC0-11E5-4D55-B5A4-AE4F898585B9}"/>
              </a:ext>
            </a:extLst>
          </p:cNvPr>
          <p:cNvSpPr>
            <a:spLocks noGrp="1"/>
          </p:cNvSpPr>
          <p:nvPr/>
        </p:nvSpPr>
        <p:spPr>
          <a:xfrm>
            <a:off x="6858000" y="4019550"/>
            <a:ext cx="1476375" cy="647700"/>
          </a:xfrm>
          <a:prstGeom prst="rect">
            <a:avLst/>
          </a:prstGeom>
          <a:solidFill>
            <a:srgbClr val="E7F7EF"/>
          </a:solidFill>
          <a:ln w="9525">
            <a:solidFill>
              <a:srgbClr val="C9D9E6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6B1E33F-D947-4230-94C3-0553653CAB73}"/>
              </a:ext>
            </a:extLst>
          </p:cNvPr>
          <p:cNvSpPr>
            <a:spLocks noGrp="1"/>
          </p:cNvSpPr>
          <p:nvPr/>
        </p:nvSpPr>
        <p:spPr>
          <a:xfrm>
            <a:off x="6953250" y="4200525"/>
            <a:ext cx="1285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1139B5B-1769-4795-93CD-DB75D7F23E57}"/>
              </a:ext>
            </a:extLst>
          </p:cNvPr>
          <p:cNvSpPr>
            <a:spLocks noGrp="1"/>
          </p:cNvSpPr>
          <p:nvPr/>
        </p:nvSpPr>
        <p:spPr>
          <a:xfrm>
            <a:off x="8334375" y="4019550"/>
            <a:ext cx="1476375" cy="647700"/>
          </a:xfrm>
          <a:prstGeom prst="rect">
            <a:avLst/>
          </a:prstGeom>
          <a:solidFill>
            <a:srgbClr val="E7F7EF"/>
          </a:solidFill>
          <a:ln w="9525">
            <a:solidFill>
              <a:srgbClr val="C9D9E6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698E421-BC0C-4570-9387-32161C8EE706}"/>
              </a:ext>
            </a:extLst>
          </p:cNvPr>
          <p:cNvSpPr>
            <a:spLocks noGrp="1"/>
          </p:cNvSpPr>
          <p:nvPr/>
        </p:nvSpPr>
        <p:spPr>
          <a:xfrm>
            <a:off x="8429625" y="4200525"/>
            <a:ext cx="1285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0861709-E0CD-450A-B6C7-B9341E93A292}"/>
              </a:ext>
            </a:extLst>
          </p:cNvPr>
          <p:cNvSpPr>
            <a:spLocks noGrp="1"/>
          </p:cNvSpPr>
          <p:nvPr/>
        </p:nvSpPr>
        <p:spPr>
          <a:xfrm>
            <a:off x="1381125" y="5572125"/>
            <a:ext cx="942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B23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340"/>
                </a:solidFill>
                <a:latin typeface="Aptos"/>
                <a:ea typeface="Aptos"/>
                <a:cs typeface="Aptos"/>
              </a:rPr>
              <a:t>差異化：不只查詢資料，也把海況與船班狀態轉換成旅客可立即採用的決策建議。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1C27EF89-0BF9-4AE6-94BD-4CEFFC9325EE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0B2340"/>
          </a:solidFill>
          <a:ln w="0">
            <a:noFill/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C5DFA71-28B1-4113-8F0F-4C9AF6C322DC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16174"/>
                </a:solidFill>
                <a:latin typeface="Aptos"/>
                <a:ea typeface="Aptos"/>
                <a:cs typeface="Aptos"/>
              </a:rPr>
              <a:t>智慧海象船班決策與停航通報 App  |  08</a:t>
            </a:r>
          </a:p>
        </p:txBody>
      </p:sp>
    </p:spTree>
    <p:extLst>
      <p:ext uri="{BB962C8B-B14F-4D97-AF65-F5344CB8AC3E}">
        <p14:creationId xmlns:p14="http://schemas.microsoft.com/office/powerpoint/2010/main" val="1487947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904A706B-BD76-4E3A-B590-AE9A3CF71367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B2340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B2340"/>
                </a:solidFill>
                <a:latin typeface="Aptos Display"/>
                <a:ea typeface="Aptos Display"/>
                <a:cs typeface="Aptos Display"/>
              </a:rPr>
              <a:t>成果與價值：完成整合式海事資訊 App 原型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BE63FC-053D-4F64-9050-EE2DB6019946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00100" cy="47625"/>
          </a:xfrm>
          <a:prstGeom prst="rect">
            <a:avLst/>
          </a:prstGeom>
          <a:solidFill>
            <a:srgbClr val="0E7490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768A05-01CC-4522-92A0-3C69EF644791}"/>
              </a:ext>
            </a:extLst>
          </p:cNvPr>
          <p:cNvSpPr>
            <a:spLocks noGrp="1"/>
          </p:cNvSpPr>
          <p:nvPr/>
        </p:nvSpPr>
        <p:spPr>
          <a:xfrm>
            <a:off x="1619250" y="866775"/>
            <a:ext cx="847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16174"/>
                </a:solidFill>
                <a:latin typeface="Aptos"/>
                <a:ea typeface="Aptos"/>
                <a:cs typeface="Aptos"/>
              </a:rPr>
              <a:t>系統已規劃並實作海況串接、船班整合與停航判斷流程。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4AD54DC5-0AB0-4F39-A107-153872CBE63C}"/>
              </a:ext>
            </a:extLst>
          </p:cNvPr>
          <p:cNvSpPr>
            <a:spLocks noGrp="1"/>
          </p:cNvSpPr>
          <p:nvPr/>
        </p:nvSpPr>
        <p:spPr>
          <a:xfrm>
            <a:off x="876300" y="1504950"/>
            <a:ext cx="2095500" cy="1428750"/>
          </a:xfrm>
          <a:prstGeom prst="roundRect">
            <a:avLst>
              <a:gd name="adj" fmla="val 8000"/>
            </a:avLst>
          </a:prstGeom>
          <a:solidFill>
            <a:srgbClr val="EAF6FA"/>
          </a:solidFill>
          <a:ln w="9525">
            <a:solidFill>
              <a:srgbClr val="C9D9E6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67573F9-59FC-4E6D-A584-47039BD4827B}"/>
              </a:ext>
            </a:extLst>
          </p:cNvPr>
          <p:cNvSpPr>
            <a:spLocks noGrp="1"/>
          </p:cNvSpPr>
          <p:nvPr/>
        </p:nvSpPr>
        <p:spPr>
          <a:xfrm>
            <a:off x="876300" y="1762125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2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2+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D39D8C-2DFF-477E-A82B-0BA564BC75F5}"/>
              </a:ext>
            </a:extLst>
          </p:cNvPr>
          <p:cNvSpPr>
            <a:spLocks noGrp="1"/>
          </p:cNvSpPr>
          <p:nvPr/>
        </p:nvSpPr>
        <p:spPr>
          <a:xfrm>
            <a:off x="876300" y="24193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0B234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340"/>
                </a:solidFill>
                <a:latin typeface="Aptos"/>
                <a:ea typeface="Aptos"/>
                <a:cs typeface="Aptos"/>
              </a:rPr>
              <a:t>API 資料來源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939EDFC-1FEB-4063-B568-005977C9C411}"/>
              </a:ext>
            </a:extLst>
          </p:cNvPr>
          <p:cNvSpPr>
            <a:spLocks noGrp="1"/>
          </p:cNvSpPr>
          <p:nvPr/>
        </p:nvSpPr>
        <p:spPr>
          <a:xfrm>
            <a:off x="3590925" y="1504950"/>
            <a:ext cx="2095500" cy="142875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 w="9525">
            <a:solidFill>
              <a:srgbClr val="C9D9E6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6B8748-E87F-485B-B82C-D3B3F08991DA}"/>
              </a:ext>
            </a:extLst>
          </p:cNvPr>
          <p:cNvSpPr>
            <a:spLocks noGrp="1"/>
          </p:cNvSpPr>
          <p:nvPr/>
        </p:nvSpPr>
        <p:spPr>
          <a:xfrm>
            <a:off x="3590925" y="1762125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2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5+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F5FED8D-F417-478B-8230-C13018613C46}"/>
              </a:ext>
            </a:extLst>
          </p:cNvPr>
          <p:cNvSpPr>
            <a:spLocks noGrp="1"/>
          </p:cNvSpPr>
          <p:nvPr/>
        </p:nvSpPr>
        <p:spPr>
          <a:xfrm>
            <a:off x="3590925" y="24193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0B234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340"/>
                </a:solidFill>
                <a:latin typeface="Aptos"/>
                <a:ea typeface="Aptos"/>
                <a:cs typeface="Aptos"/>
              </a:rPr>
              <a:t>海況欄位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032BDD0F-0138-4953-8A33-F627173FFC98}"/>
              </a:ext>
            </a:extLst>
          </p:cNvPr>
          <p:cNvSpPr>
            <a:spLocks noGrp="1"/>
          </p:cNvSpPr>
          <p:nvPr/>
        </p:nvSpPr>
        <p:spPr>
          <a:xfrm>
            <a:off x="6305550" y="1504950"/>
            <a:ext cx="2095500" cy="1428750"/>
          </a:xfrm>
          <a:prstGeom prst="roundRect">
            <a:avLst>
              <a:gd name="adj" fmla="val 8000"/>
            </a:avLst>
          </a:prstGeom>
          <a:solidFill>
            <a:srgbClr val="EAF6FA"/>
          </a:solidFill>
          <a:ln w="9525">
            <a:solidFill>
              <a:srgbClr val="C9D9E6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1CF1193-2FD1-4A82-B5BB-664985A95C88}"/>
              </a:ext>
            </a:extLst>
          </p:cNvPr>
          <p:cNvSpPr>
            <a:spLocks noGrp="1"/>
          </p:cNvSpPr>
          <p:nvPr/>
        </p:nvSpPr>
        <p:spPr>
          <a:xfrm>
            <a:off x="6305550" y="1762125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2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5+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D6AEA9-154B-445E-B080-E1977051E647}"/>
              </a:ext>
            </a:extLst>
          </p:cNvPr>
          <p:cNvSpPr>
            <a:spLocks noGrp="1"/>
          </p:cNvSpPr>
          <p:nvPr/>
        </p:nvSpPr>
        <p:spPr>
          <a:xfrm>
            <a:off x="6305550" y="24193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0B234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340"/>
                </a:solidFill>
                <a:latin typeface="Aptos"/>
                <a:ea typeface="Aptos"/>
                <a:cs typeface="Aptos"/>
              </a:rPr>
              <a:t>船班欄位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EEBF9922-CDDB-43DD-A2B3-8D449BB7A82D}"/>
              </a:ext>
            </a:extLst>
          </p:cNvPr>
          <p:cNvSpPr>
            <a:spLocks noGrp="1"/>
          </p:cNvSpPr>
          <p:nvPr/>
        </p:nvSpPr>
        <p:spPr>
          <a:xfrm>
            <a:off x="9020175" y="1504950"/>
            <a:ext cx="2095500" cy="142875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 w="9525">
            <a:solidFill>
              <a:srgbClr val="C9D9E6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32E254E-2A99-4ECF-B6C1-D6AAB1E14DE5}"/>
              </a:ext>
            </a:extLst>
          </p:cNvPr>
          <p:cNvSpPr>
            <a:spLocks noGrp="1"/>
          </p:cNvSpPr>
          <p:nvPr/>
        </p:nvSpPr>
        <p:spPr>
          <a:xfrm>
            <a:off x="9020175" y="1762125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200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BFAA68B-0F61-4E7E-A81A-FAFA52CA94F8}"/>
              </a:ext>
            </a:extLst>
          </p:cNvPr>
          <p:cNvSpPr>
            <a:spLocks noGrp="1"/>
          </p:cNvSpPr>
          <p:nvPr/>
        </p:nvSpPr>
        <p:spPr>
          <a:xfrm>
            <a:off x="9020175" y="24193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0B234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340"/>
                </a:solidFill>
                <a:latin typeface="Aptos"/>
                <a:ea typeface="Aptos"/>
                <a:cs typeface="Aptos"/>
              </a:rPr>
              <a:t>風險結果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BC095AB0-0875-4D1B-9577-8E095CD8E2FD}"/>
              </a:ext>
            </a:extLst>
          </p:cNvPr>
          <p:cNvSpPr>
            <a:spLocks noGrp="1"/>
          </p:cNvSpPr>
          <p:nvPr/>
        </p:nvSpPr>
        <p:spPr>
          <a:xfrm>
            <a:off x="1143000" y="3619500"/>
            <a:ext cx="29527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9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A65E1F4-B0DC-457D-8D49-3B03144BFF93}"/>
              </a:ext>
            </a:extLst>
          </p:cNvPr>
          <p:cNvSpPr>
            <a:spLocks noGrp="1"/>
          </p:cNvSpPr>
          <p:nvPr/>
        </p:nvSpPr>
        <p:spPr>
          <a:xfrm>
            <a:off x="1143000" y="3619500"/>
            <a:ext cx="66675" cy="1428750"/>
          </a:xfrm>
          <a:prstGeom prst="rect">
            <a:avLst/>
          </a:prstGeom>
          <a:solidFill>
            <a:srgbClr val="0E7490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0253450-C044-4AFC-85D4-E6ED9CC6380C}"/>
              </a:ext>
            </a:extLst>
          </p:cNvPr>
          <p:cNvSpPr>
            <a:spLocks noGrp="1"/>
          </p:cNvSpPr>
          <p:nvPr/>
        </p:nvSpPr>
        <p:spPr>
          <a:xfrm>
            <a:off x="1352550" y="3790950"/>
            <a:ext cx="2552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B23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340"/>
                </a:solidFill>
                <a:latin typeface="Aptos"/>
                <a:ea typeface="Aptos"/>
                <a:cs typeface="Aptos"/>
              </a:rPr>
              <a:t>資訊整合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BFBD55B-2699-4AD0-96AD-64445BC36A63}"/>
              </a:ext>
            </a:extLst>
          </p:cNvPr>
          <p:cNvSpPr>
            <a:spLocks noGrp="1"/>
          </p:cNvSpPr>
          <p:nvPr/>
        </p:nvSpPr>
        <p:spPr>
          <a:xfrm>
            <a:off x="1352550" y="4171950"/>
            <a:ext cx="25527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174"/>
                </a:solidFill>
                <a:latin typeface="Aptos"/>
                <a:ea typeface="Aptos"/>
                <a:cs typeface="Aptos"/>
              </a:rPr>
              <a:t>海況、船班與判斷結果集中呈現，降低跨平台查詢成本。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4262B25F-E1B7-4F08-8332-AF7B6327D5C7}"/>
              </a:ext>
            </a:extLst>
          </p:cNvPr>
          <p:cNvSpPr>
            <a:spLocks noGrp="1"/>
          </p:cNvSpPr>
          <p:nvPr/>
        </p:nvSpPr>
        <p:spPr>
          <a:xfrm>
            <a:off x="4619625" y="3619500"/>
            <a:ext cx="29527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9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607F146-EE00-416D-82CE-E0E75EB0E397}"/>
              </a:ext>
            </a:extLst>
          </p:cNvPr>
          <p:cNvSpPr>
            <a:spLocks noGrp="1"/>
          </p:cNvSpPr>
          <p:nvPr/>
        </p:nvSpPr>
        <p:spPr>
          <a:xfrm>
            <a:off x="4619625" y="3619500"/>
            <a:ext cx="66675" cy="14287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33B73E7-E6F8-4EA0-A8DD-DE09F4EFF5DA}"/>
              </a:ext>
            </a:extLst>
          </p:cNvPr>
          <p:cNvSpPr>
            <a:spLocks noGrp="1"/>
          </p:cNvSpPr>
          <p:nvPr/>
        </p:nvSpPr>
        <p:spPr>
          <a:xfrm>
            <a:off x="4829175" y="3790950"/>
            <a:ext cx="2552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B23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340"/>
                </a:solidFill>
                <a:latin typeface="Aptos"/>
                <a:ea typeface="Aptos"/>
                <a:cs typeface="Aptos"/>
              </a:rPr>
              <a:t>決策輔助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E72EF49-8201-4295-86ED-DD838EBF92FE}"/>
              </a:ext>
            </a:extLst>
          </p:cNvPr>
          <p:cNvSpPr>
            <a:spLocks noGrp="1"/>
          </p:cNvSpPr>
          <p:nvPr/>
        </p:nvSpPr>
        <p:spPr>
          <a:xfrm>
            <a:off x="4829175" y="4171950"/>
            <a:ext cx="25527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174"/>
                </a:solidFill>
                <a:latin typeface="Aptos"/>
                <a:ea typeface="Aptos"/>
                <a:cs typeface="Aptos"/>
              </a:rPr>
              <a:t>依據海象規則產生狀態結果，協助旅客安排搭船行程。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A5F73BFB-31FC-405E-AC82-5A49DD848604}"/>
              </a:ext>
            </a:extLst>
          </p:cNvPr>
          <p:cNvSpPr>
            <a:spLocks noGrp="1"/>
          </p:cNvSpPr>
          <p:nvPr/>
        </p:nvSpPr>
        <p:spPr>
          <a:xfrm>
            <a:off x="8096250" y="3619500"/>
            <a:ext cx="29527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9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0E0C98E-4B97-4ED9-840A-E6E04313A8FB}"/>
              </a:ext>
            </a:extLst>
          </p:cNvPr>
          <p:cNvSpPr>
            <a:spLocks noGrp="1"/>
          </p:cNvSpPr>
          <p:nvPr/>
        </p:nvSpPr>
        <p:spPr>
          <a:xfrm>
            <a:off x="8096250" y="3619500"/>
            <a:ext cx="66675" cy="142875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EFE4B4B-4AD2-444B-81FD-20A6D67BC084}"/>
              </a:ext>
            </a:extLst>
          </p:cNvPr>
          <p:cNvSpPr>
            <a:spLocks noGrp="1"/>
          </p:cNvSpPr>
          <p:nvPr/>
        </p:nvSpPr>
        <p:spPr>
          <a:xfrm>
            <a:off x="8305800" y="3790950"/>
            <a:ext cx="2552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B23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340"/>
                </a:solidFill>
                <a:latin typeface="Aptos"/>
                <a:ea typeface="Aptos"/>
                <a:cs typeface="Aptos"/>
              </a:rPr>
              <a:t>安全參考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CE30C00-6E41-4880-AA58-E6CC978368BA}"/>
              </a:ext>
            </a:extLst>
          </p:cNvPr>
          <p:cNvSpPr>
            <a:spLocks noGrp="1"/>
          </p:cNvSpPr>
          <p:nvPr/>
        </p:nvSpPr>
        <p:spPr>
          <a:xfrm>
            <a:off x="8305800" y="4171950"/>
            <a:ext cx="25527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174"/>
                </a:solidFill>
                <a:latin typeface="Aptos"/>
                <a:ea typeface="Aptos"/>
                <a:cs typeface="Aptos"/>
              </a:rPr>
              <a:t>提供正常、延誤、建議停航等訊息，提升海上交通安全意識。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92863D1-4BD6-4DAF-9457-9A4FF9841051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0B2340"/>
          </a:solidFill>
          <a:ln w="0">
            <a:noFill/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955AA5F-0257-46E9-A739-AA91B0C152B6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16174"/>
                </a:solidFill>
                <a:latin typeface="Aptos"/>
                <a:ea typeface="Aptos"/>
                <a:cs typeface="Aptos"/>
              </a:rPr>
              <a:t>智慧海象船班決策與停航通報 App  |  09</a:t>
            </a:r>
          </a:p>
        </p:txBody>
      </p:sp>
    </p:spTree>
    <p:extLst>
      <p:ext uri="{BB962C8B-B14F-4D97-AF65-F5344CB8AC3E}">
        <p14:creationId xmlns:p14="http://schemas.microsoft.com/office/powerpoint/2010/main" val="1876574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A3416ABD-E6E2-42B4-8933-1C6C160EF246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B2340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B2340"/>
                </a:solidFill>
                <a:latin typeface="Aptos Display"/>
                <a:ea typeface="Aptos Display"/>
                <a:cs typeface="Aptos Display"/>
              </a:rPr>
              <a:t>組員分工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A71FCD-6A28-4953-A6B4-6AEB2FA0AA96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00100" cy="47625"/>
          </a:xfrm>
          <a:prstGeom prst="rect">
            <a:avLst/>
          </a:prstGeom>
          <a:solidFill>
            <a:srgbClr val="0E7490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C20EA1-62B9-4D83-860C-9BD6E6779D6C}"/>
              </a:ext>
            </a:extLst>
          </p:cNvPr>
          <p:cNvSpPr>
            <a:spLocks noGrp="1"/>
          </p:cNvSpPr>
          <p:nvPr/>
        </p:nvSpPr>
        <p:spPr>
          <a:xfrm>
            <a:off x="1619250" y="866775"/>
            <a:ext cx="847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16174"/>
                </a:solidFill>
                <a:latin typeface="Aptos"/>
                <a:ea typeface="Aptos"/>
                <a:cs typeface="Aptos"/>
              </a:rPr>
              <a:t>三位成員分別聚焦海況、船班與停航決策，整合為最終 App。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FF38F55A-C9F1-4BA0-936D-37F119A1DB2B}"/>
              </a:ext>
            </a:extLst>
          </p:cNvPr>
          <p:cNvSpPr>
            <a:spLocks noGrp="1"/>
          </p:cNvSpPr>
          <p:nvPr/>
        </p:nvSpPr>
        <p:spPr>
          <a:xfrm>
            <a:off x="952500" y="1619250"/>
            <a:ext cx="3095625" cy="314325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9525">
            <a:solidFill>
              <a:srgbClr val="C9D9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7AE6D440-FCCF-4494-BF71-A4F214AE90DA}"/>
              </a:ext>
            </a:extLst>
          </p:cNvPr>
          <p:cNvSpPr>
            <a:spLocks noGrp="1"/>
          </p:cNvSpPr>
          <p:nvPr/>
        </p:nvSpPr>
        <p:spPr>
          <a:xfrm>
            <a:off x="2019300" y="1905000"/>
            <a:ext cx="952500" cy="952500"/>
          </a:xfrm>
          <a:prstGeom prst="ellipse">
            <a:avLst/>
          </a:prstGeom>
          <a:solidFill>
            <a:srgbClr val="0E7490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C4F9AA-1BA5-47E4-871F-8799B99FD008}"/>
              </a:ext>
            </a:extLst>
          </p:cNvPr>
          <p:cNvSpPr>
            <a:spLocks noGrp="1"/>
          </p:cNvSpPr>
          <p:nvPr/>
        </p:nvSpPr>
        <p:spPr>
          <a:xfrm>
            <a:off x="2019300" y="2114550"/>
            <a:ext cx="95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陳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B57582-C9DD-4ACD-9234-544C1568ECD2}"/>
              </a:ext>
            </a:extLst>
          </p:cNvPr>
          <p:cNvSpPr>
            <a:spLocks noGrp="1"/>
          </p:cNvSpPr>
          <p:nvPr/>
        </p:nvSpPr>
        <p:spPr>
          <a:xfrm>
            <a:off x="1190625" y="3095625"/>
            <a:ext cx="2619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0B234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2340"/>
                </a:solidFill>
                <a:latin typeface="Aptos"/>
                <a:ea typeface="Aptos"/>
                <a:cs typeface="Aptos"/>
              </a:rPr>
              <a:t>陳意欣</a:t>
            </a:r>
          </a:p>
          <a:p>
            <a:pPr algn="ctr">
              <a:defRPr sz="1725" b="1">
                <a:solidFill>
                  <a:srgbClr val="0B234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2340"/>
                </a:solidFill>
                <a:latin typeface="Aptos"/>
                <a:ea typeface="Aptos"/>
                <a:cs typeface="Aptos"/>
              </a:rPr>
              <a:t>C112181102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24C518-987A-425D-8550-59F5C619079C}"/>
              </a:ext>
            </a:extLst>
          </p:cNvPr>
          <p:cNvSpPr>
            <a:spLocks noGrp="1"/>
          </p:cNvSpPr>
          <p:nvPr/>
        </p:nvSpPr>
        <p:spPr>
          <a:xfrm>
            <a:off x="1200150" y="3810000"/>
            <a:ext cx="26003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海況觀測資訊 App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D7706BA-BA00-4519-B5BC-073E9F60AC0B}"/>
              </a:ext>
            </a:extLst>
          </p:cNvPr>
          <p:cNvSpPr>
            <a:spLocks noGrp="1"/>
          </p:cNvSpPr>
          <p:nvPr/>
        </p:nvSpPr>
        <p:spPr>
          <a:xfrm>
            <a:off x="1219200" y="440055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16174"/>
                </a:solidFill>
                <a:latin typeface="Aptos"/>
                <a:ea typeface="Aptos"/>
                <a:cs typeface="Aptos"/>
              </a:rPr>
              <a:t>CWA 海象資料、即時海況顯示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C719AFC-A2E1-4756-9EB2-8704FFD53EED}"/>
              </a:ext>
            </a:extLst>
          </p:cNvPr>
          <p:cNvSpPr>
            <a:spLocks noGrp="1"/>
          </p:cNvSpPr>
          <p:nvPr/>
        </p:nvSpPr>
        <p:spPr>
          <a:xfrm>
            <a:off x="4476750" y="1619250"/>
            <a:ext cx="3095625" cy="314325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9525">
            <a:solidFill>
              <a:srgbClr val="C9D9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B425A1B2-38A5-44BD-853F-624250264C9A}"/>
              </a:ext>
            </a:extLst>
          </p:cNvPr>
          <p:cNvSpPr>
            <a:spLocks noGrp="1"/>
          </p:cNvSpPr>
          <p:nvPr/>
        </p:nvSpPr>
        <p:spPr>
          <a:xfrm>
            <a:off x="5543550" y="1905000"/>
            <a:ext cx="952500" cy="95250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E3ECB1D-390F-408E-8AC7-BC100D983DD8}"/>
              </a:ext>
            </a:extLst>
          </p:cNvPr>
          <p:cNvSpPr>
            <a:spLocks noGrp="1"/>
          </p:cNvSpPr>
          <p:nvPr/>
        </p:nvSpPr>
        <p:spPr>
          <a:xfrm>
            <a:off x="5543550" y="2114550"/>
            <a:ext cx="95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黃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10B190D-88C0-47C5-870C-67AC82BE3B6F}"/>
              </a:ext>
            </a:extLst>
          </p:cNvPr>
          <p:cNvSpPr>
            <a:spLocks noGrp="1"/>
          </p:cNvSpPr>
          <p:nvPr/>
        </p:nvSpPr>
        <p:spPr>
          <a:xfrm>
            <a:off x="4714875" y="3095625"/>
            <a:ext cx="2619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0B234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2340"/>
                </a:solidFill>
                <a:latin typeface="Aptos"/>
                <a:ea typeface="Aptos"/>
                <a:cs typeface="Aptos"/>
              </a:rPr>
              <a:t>黃薏庭</a:t>
            </a:r>
          </a:p>
          <a:p>
            <a:pPr algn="ctr">
              <a:defRPr sz="1725" b="1">
                <a:solidFill>
                  <a:srgbClr val="0B234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2340"/>
                </a:solidFill>
                <a:latin typeface="Aptos"/>
                <a:ea typeface="Aptos"/>
                <a:cs typeface="Aptos"/>
              </a:rPr>
              <a:t>C112181103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06BE6F4-A27A-4D08-A87A-BD318CCBCDB5}"/>
              </a:ext>
            </a:extLst>
          </p:cNvPr>
          <p:cNvSpPr>
            <a:spLocks noGrp="1"/>
          </p:cNvSpPr>
          <p:nvPr/>
        </p:nvSpPr>
        <p:spPr>
          <a:xfrm>
            <a:off x="4724400" y="3810000"/>
            <a:ext cx="26003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船班資訊 App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FF8AA65-522B-48FB-B326-FEFA3D5BF9E1}"/>
              </a:ext>
            </a:extLst>
          </p:cNvPr>
          <p:cNvSpPr>
            <a:spLocks noGrp="1"/>
          </p:cNvSpPr>
          <p:nvPr/>
        </p:nvSpPr>
        <p:spPr>
          <a:xfrm>
            <a:off x="4743450" y="440055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16174"/>
                </a:solidFill>
                <a:latin typeface="Aptos"/>
                <a:ea typeface="Aptos"/>
                <a:cs typeface="Aptos"/>
              </a:rPr>
              <a:t>TDX 航港船班資料、船班查詢與搜尋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6085BBD1-FDBC-4DBA-BEFC-4EC0DBF5C23A}"/>
              </a:ext>
            </a:extLst>
          </p:cNvPr>
          <p:cNvSpPr>
            <a:spLocks noGrp="1"/>
          </p:cNvSpPr>
          <p:nvPr/>
        </p:nvSpPr>
        <p:spPr>
          <a:xfrm>
            <a:off x="8001000" y="1619250"/>
            <a:ext cx="3095625" cy="314325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9525">
            <a:solidFill>
              <a:srgbClr val="C9D9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6AA7FCE8-80FE-42D0-824B-27C954D1A195}"/>
              </a:ext>
            </a:extLst>
          </p:cNvPr>
          <p:cNvSpPr>
            <a:spLocks noGrp="1"/>
          </p:cNvSpPr>
          <p:nvPr/>
        </p:nvSpPr>
        <p:spPr>
          <a:xfrm>
            <a:off x="9067800" y="1905000"/>
            <a:ext cx="952500" cy="952500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A21496C-C93F-46AC-8723-2C566E1E39FE}"/>
              </a:ext>
            </a:extLst>
          </p:cNvPr>
          <p:cNvSpPr>
            <a:spLocks noGrp="1"/>
          </p:cNvSpPr>
          <p:nvPr/>
        </p:nvSpPr>
        <p:spPr>
          <a:xfrm>
            <a:off x="9067800" y="2114550"/>
            <a:ext cx="95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蔡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032267A-44F8-4DA9-99E8-5376B003B1CC}"/>
              </a:ext>
            </a:extLst>
          </p:cNvPr>
          <p:cNvSpPr>
            <a:spLocks noGrp="1"/>
          </p:cNvSpPr>
          <p:nvPr/>
        </p:nvSpPr>
        <p:spPr>
          <a:xfrm>
            <a:off x="8239125" y="3095625"/>
            <a:ext cx="2619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0B234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2340"/>
                </a:solidFill>
                <a:latin typeface="Aptos"/>
                <a:ea typeface="Aptos"/>
                <a:cs typeface="Aptos"/>
              </a:rPr>
              <a:t>蔡异堤</a:t>
            </a:r>
          </a:p>
          <a:p>
            <a:pPr algn="ctr">
              <a:defRPr sz="1725" b="1">
                <a:solidFill>
                  <a:srgbClr val="0B234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2340"/>
                </a:solidFill>
                <a:latin typeface="Aptos"/>
                <a:ea typeface="Aptos"/>
                <a:cs typeface="Aptos"/>
              </a:rPr>
              <a:t>C112181144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E6CADC7-744D-464D-9B18-30BAC0866204}"/>
              </a:ext>
            </a:extLst>
          </p:cNvPr>
          <p:cNvSpPr>
            <a:spLocks noGrp="1"/>
          </p:cNvSpPr>
          <p:nvPr/>
        </p:nvSpPr>
        <p:spPr>
          <a:xfrm>
            <a:off x="8248650" y="3810000"/>
            <a:ext cx="26003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海象連動決策與自動停航通報 App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1146CB6-50AF-4EA8-B4E1-43083FB7D3EF}"/>
              </a:ext>
            </a:extLst>
          </p:cNvPr>
          <p:cNvSpPr>
            <a:spLocks noGrp="1"/>
          </p:cNvSpPr>
          <p:nvPr/>
        </p:nvSpPr>
        <p:spPr>
          <a:xfrm>
            <a:off x="8267700" y="440055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16174"/>
                </a:solidFill>
                <a:latin typeface="Aptos"/>
                <a:ea typeface="Aptos"/>
                <a:cs typeface="Aptos"/>
              </a:rPr>
              <a:t>停航判斷、旅客提醒與風險規則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DCCFAD5-B660-4AE4-9457-C5D1E7195EA6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0B2340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C2AEA79-E6EF-445F-B00E-04DC90B279D7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16174"/>
                </a:solidFill>
                <a:latin typeface="Aptos"/>
                <a:ea typeface="Aptos"/>
                <a:cs typeface="Aptos"/>
              </a:rPr>
              <a:t>智慧海象船班決策與停航通報 App  |  10</a:t>
            </a:r>
          </a:p>
        </p:txBody>
      </p:sp>
    </p:spTree>
    <p:extLst>
      <p:ext uri="{BB962C8B-B14F-4D97-AF65-F5344CB8AC3E}">
        <p14:creationId xmlns:p14="http://schemas.microsoft.com/office/powerpoint/2010/main" val="870260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0DBB1BAF-4C6B-44EF-B2D6-54FC9792F5A8}"/>
              </a:ext>
            </a:extLst>
          </p:cNvPr>
          <p:cNvSpPr>
            <a:spLocks noGrp="1"/>
          </p:cNvSpPr>
          <p:nvPr/>
        </p:nvSpPr>
        <p:spPr>
          <a:xfrm>
            <a:off x="742950" y="5524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結論與未來方向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96904D-F868-4ED8-9F2B-C801A7BB77CD}"/>
              </a:ext>
            </a:extLst>
          </p:cNvPr>
          <p:cNvSpPr>
            <a:spLocks noGrp="1"/>
          </p:cNvSpPr>
          <p:nvPr/>
        </p:nvSpPr>
        <p:spPr>
          <a:xfrm>
            <a:off x="742950" y="1219200"/>
            <a:ext cx="857250" cy="47625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8054AC3-B210-4953-B603-177BBE9B233A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485775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9D9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70592C4-7203-495A-BD9C-0F3CBC52FC80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66675" cy="2000250"/>
          </a:xfrm>
          <a:prstGeom prst="rect">
            <a:avLst/>
          </a:prstGeom>
          <a:solidFill>
            <a:srgbClr val="0E7490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B70B06-A9D1-4AD3-977D-100AF13E94E9}"/>
              </a:ext>
            </a:extLst>
          </p:cNvPr>
          <p:cNvSpPr>
            <a:spLocks noGrp="1"/>
          </p:cNvSpPr>
          <p:nvPr/>
        </p:nvSpPr>
        <p:spPr>
          <a:xfrm>
            <a:off x="1028700" y="1885950"/>
            <a:ext cx="445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B23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340"/>
                </a:solidFill>
                <a:latin typeface="Aptos"/>
                <a:ea typeface="Aptos"/>
                <a:cs typeface="Aptos"/>
              </a:rPr>
              <a:t>研究結論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EFA516-496A-4E04-BC7F-6C2CEB93B658}"/>
              </a:ext>
            </a:extLst>
          </p:cNvPr>
          <p:cNvSpPr>
            <a:spLocks noGrp="1"/>
          </p:cNvSpPr>
          <p:nvPr/>
        </p:nvSpPr>
        <p:spPr>
          <a:xfrm>
            <a:off x="1028700" y="2266950"/>
            <a:ext cx="445770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174"/>
                </a:solidFill>
                <a:latin typeface="Aptos"/>
                <a:ea typeface="Aptos"/>
                <a:cs typeface="Aptos"/>
              </a:rPr>
              <a:t>本專題證明海況資料與船班資訊可整合於同一 App，並透過簡易規則轉換為旅客可理解的停航判斷結果。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604796BD-4FFB-46CE-BBA8-4AC440C16B9B}"/>
              </a:ext>
            </a:extLst>
          </p:cNvPr>
          <p:cNvSpPr>
            <a:spLocks noGrp="1"/>
          </p:cNvSpPr>
          <p:nvPr/>
        </p:nvSpPr>
        <p:spPr>
          <a:xfrm>
            <a:off x="6524625" y="1714500"/>
            <a:ext cx="485775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9D9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CA1F5D-D7F2-47C6-BF1A-B29D5AFE2446}"/>
              </a:ext>
            </a:extLst>
          </p:cNvPr>
          <p:cNvSpPr>
            <a:spLocks noGrp="1"/>
          </p:cNvSpPr>
          <p:nvPr/>
        </p:nvSpPr>
        <p:spPr>
          <a:xfrm>
            <a:off x="6524625" y="1714500"/>
            <a:ext cx="66675" cy="20002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820FD42-5649-46ED-9BF0-D110F2191C61}"/>
              </a:ext>
            </a:extLst>
          </p:cNvPr>
          <p:cNvSpPr>
            <a:spLocks noGrp="1"/>
          </p:cNvSpPr>
          <p:nvPr/>
        </p:nvSpPr>
        <p:spPr>
          <a:xfrm>
            <a:off x="6734175" y="1885950"/>
            <a:ext cx="445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B23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340"/>
                </a:solidFill>
                <a:latin typeface="Aptos"/>
                <a:ea typeface="Aptos"/>
                <a:cs typeface="Aptos"/>
              </a:rPr>
              <a:t>應用價值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A5B310-98C7-450E-9081-3EF3C5B30392}"/>
              </a:ext>
            </a:extLst>
          </p:cNvPr>
          <p:cNvSpPr>
            <a:spLocks noGrp="1"/>
          </p:cNvSpPr>
          <p:nvPr/>
        </p:nvSpPr>
        <p:spPr>
          <a:xfrm>
            <a:off x="6734175" y="2266950"/>
            <a:ext cx="445770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161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174"/>
                </a:solidFill>
                <a:latin typeface="Aptos"/>
                <a:ea typeface="Aptos"/>
                <a:cs typeface="Aptos"/>
              </a:rPr>
              <a:t>提升查詢便利性、減少重複查詢，並提供行程規劃與海上交通安全的參考。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0915F042-68FE-44D5-AB36-6529B9E8C085}"/>
              </a:ext>
            </a:extLst>
          </p:cNvPr>
          <p:cNvSpPr>
            <a:spLocks noGrp="1"/>
          </p:cNvSpPr>
          <p:nvPr/>
        </p:nvSpPr>
        <p:spPr>
          <a:xfrm>
            <a:off x="1809750" y="4286250"/>
            <a:ext cx="8572500" cy="1143000"/>
          </a:xfrm>
          <a:prstGeom prst="roundRect">
            <a:avLst>
              <a:gd name="adj" fmla="val 10000"/>
            </a:avLst>
          </a:prstGeom>
          <a:solidFill>
            <a:srgbClr val="123A5A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F3E65FF-02EF-48A2-8548-6BF8F4EC8151}"/>
              </a:ext>
            </a:extLst>
          </p:cNvPr>
          <p:cNvSpPr>
            <a:spLocks noGrp="1"/>
          </p:cNvSpPr>
          <p:nvPr/>
        </p:nvSpPr>
        <p:spPr>
          <a:xfrm>
            <a:off x="2190750" y="45529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E9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9F7FB"/>
                </a:solidFill>
                <a:latin typeface="Aptos"/>
                <a:ea typeface="Aptos"/>
                <a:cs typeface="Aptos"/>
              </a:rPr>
              <a:t>未來可延伸：即時推播停航或異常海況通知、歷史資料分析、建立更完整的停航判斷模型、整合地圖與定位顯示港口/測站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29FA7B5-F29B-4389-9D0B-65B171A1D44F}"/>
              </a:ext>
            </a:extLst>
          </p:cNvPr>
          <p:cNvSpPr>
            <a:spLocks noGrp="1"/>
          </p:cNvSpPr>
          <p:nvPr/>
        </p:nvSpPr>
        <p:spPr>
          <a:xfrm>
            <a:off x="742950" y="62865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B6C9D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B6C9D8"/>
                </a:solidFill>
                <a:latin typeface="Aptos"/>
                <a:ea typeface="Aptos"/>
                <a:cs typeface="Aptos"/>
              </a:rPr>
              <a:t>資料來源：中央氣象署 Open Data、TDX 運輸資料流通服務、交通部航港局</a:t>
            </a:r>
          </a:p>
        </p:txBody>
      </p:sp>
    </p:spTree>
    <p:extLst>
      <p:ext uri="{BB962C8B-B14F-4D97-AF65-F5344CB8AC3E}">
        <p14:creationId xmlns:p14="http://schemas.microsoft.com/office/powerpoint/2010/main" val="15256668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415</Words>
  <Application>Microsoft Office PowerPoint</Application>
  <DocSecurity>0</DocSecurity>
  <PresentationFormat>寬螢幕</PresentationFormat>
  <Paragraphs>140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微軟正黑體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异堤 蔡</cp:lastModifiedBy>
  <cp:revision>2</cp:revision>
  <dcterms:created xsi:type="dcterms:W3CDTF">2026-06-15T15:11:16Z</dcterms:created>
  <dcterms:modified xsi:type="dcterms:W3CDTF">2026-06-15T15:35:03Z</dcterms:modified>
</cp:coreProperties>
</file>